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handoutMasterIdLst>
    <p:handoutMasterId r:id="rId38"/>
  </p:handoutMasterIdLst>
  <p:sldIdLst>
    <p:sldId id="256" r:id="rId3"/>
    <p:sldId id="257" r:id="rId4"/>
    <p:sldId id="281" r:id="rId5"/>
    <p:sldId id="277" r:id="rId6"/>
    <p:sldId id="275" r:id="rId7"/>
    <p:sldId id="260" r:id="rId8"/>
    <p:sldId id="278" r:id="rId9"/>
    <p:sldId id="261" r:id="rId10"/>
    <p:sldId id="276" r:id="rId11"/>
    <p:sldId id="262" r:id="rId12"/>
    <p:sldId id="268" r:id="rId13"/>
    <p:sldId id="263" r:id="rId14"/>
    <p:sldId id="271" r:id="rId15"/>
    <p:sldId id="280" r:id="rId16"/>
    <p:sldId id="272" r:id="rId17"/>
    <p:sldId id="273" r:id="rId18"/>
    <p:sldId id="274" r:id="rId20"/>
    <p:sldId id="279" r:id="rId21"/>
    <p:sldId id="282" r:id="rId22"/>
    <p:sldId id="283" r:id="rId23"/>
    <p:sldId id="284" r:id="rId24"/>
    <p:sldId id="285" r:id="rId25"/>
    <p:sldId id="290" r:id="rId26"/>
    <p:sldId id="291" r:id="rId27"/>
    <p:sldId id="286" r:id="rId28"/>
    <p:sldId id="287" r:id="rId29"/>
    <p:sldId id="294" r:id="rId30"/>
    <p:sldId id="288" r:id="rId31"/>
    <p:sldId id="295" r:id="rId32"/>
    <p:sldId id="289" r:id="rId33"/>
    <p:sldId id="297" r:id="rId34"/>
    <p:sldId id="293" r:id="rId35"/>
    <p:sldId id="296" r:id="rId36"/>
    <p:sldId id="259" r:id="rId3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1" Type="http://schemas.openxmlformats.org/officeDocument/2006/relationships/tableStyles" Target="tableStyles.xml"/><Relationship Id="rId40" Type="http://schemas.openxmlformats.org/officeDocument/2006/relationships/viewProps" Target="viewProps.xml"/><Relationship Id="rId4" Type="http://schemas.openxmlformats.org/officeDocument/2006/relationships/slide" Target="slides/slide2.xml"/><Relationship Id="rId39" Type="http://schemas.openxmlformats.org/officeDocument/2006/relationships/presProps" Target="presProps.xml"/><Relationship Id="rId38" Type="http://schemas.openxmlformats.org/officeDocument/2006/relationships/handoutMaster" Target="handoutMasters/handoutMaster1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notesMaster" Target="notesMasters/notesMaster1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删除</a:t>
            </a:r>
            <a:r>
              <a:rPr lang="zh-CN" altLang="en-US"/>
              <a:t>这页</a:t>
            </a:r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删除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删除</a:t>
            </a:r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7.xml"/><Relationship Id="rId2" Type="http://schemas.openxmlformats.org/officeDocument/2006/relationships/image" Target="../media/image1.png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9.xml"/><Relationship Id="rId2" Type="http://schemas.openxmlformats.org/officeDocument/2006/relationships/image" Target="../media/image2.png"/><Relationship Id="rId1" Type="http://schemas.openxmlformats.org/officeDocument/2006/relationships/tags" Target="../tags/tag6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1.xml"/><Relationship Id="rId1" Type="http://schemas.openxmlformats.org/officeDocument/2006/relationships/tags" Target="../tags/tag70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73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tags" Target="../tags/tag72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75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tags" Target="../tags/tag74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7.xml"/><Relationship Id="rId2" Type="http://schemas.openxmlformats.org/officeDocument/2006/relationships/image" Target="../media/image9.png"/><Relationship Id="rId1" Type="http://schemas.openxmlformats.org/officeDocument/2006/relationships/tags" Target="../tags/tag76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9.xml"/><Relationship Id="rId2" Type="http://schemas.openxmlformats.org/officeDocument/2006/relationships/image" Target="../media/image10.png"/><Relationship Id="rId1" Type="http://schemas.openxmlformats.org/officeDocument/2006/relationships/tags" Target="../tags/tag78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81.xml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tags" Target="../tags/tag80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3.xml"/><Relationship Id="rId2" Type="http://schemas.openxmlformats.org/officeDocument/2006/relationships/image" Target="../media/image14.png"/><Relationship Id="rId1" Type="http://schemas.openxmlformats.org/officeDocument/2006/relationships/tags" Target="../tags/tag82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5.xml"/><Relationship Id="rId2" Type="http://schemas.openxmlformats.org/officeDocument/2006/relationships/image" Target="../media/image15.png"/><Relationship Id="rId1" Type="http://schemas.openxmlformats.org/officeDocument/2006/relationships/tags" Target="../tags/tag84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7.xml"/><Relationship Id="rId2" Type="http://schemas.openxmlformats.org/officeDocument/2006/relationships/image" Target="../media/image16.png"/><Relationship Id="rId1" Type="http://schemas.openxmlformats.org/officeDocument/2006/relationships/tags" Target="../tags/tag86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9.xml"/><Relationship Id="rId2" Type="http://schemas.openxmlformats.org/officeDocument/2006/relationships/image" Target="../media/image17.png"/><Relationship Id="rId1" Type="http://schemas.openxmlformats.org/officeDocument/2006/relationships/tags" Target="../tags/tag88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1.xml"/><Relationship Id="rId2" Type="http://schemas.openxmlformats.org/officeDocument/2006/relationships/image" Target="../media/image18.png"/><Relationship Id="rId1" Type="http://schemas.openxmlformats.org/officeDocument/2006/relationships/tags" Target="../tags/tag90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3.xml"/><Relationship Id="rId2" Type="http://schemas.openxmlformats.org/officeDocument/2006/relationships/image" Target="../media/image19.png"/><Relationship Id="rId1" Type="http://schemas.openxmlformats.org/officeDocument/2006/relationships/tags" Target="../tags/tag92.xml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95.xml"/><Relationship Id="rId2" Type="http://schemas.openxmlformats.org/officeDocument/2006/relationships/image" Target="../media/image20.png"/><Relationship Id="rId1" Type="http://schemas.openxmlformats.org/officeDocument/2006/relationships/tags" Target="../tags/tag94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7" Type="http://schemas.openxmlformats.org/officeDocument/2006/relationships/slideLayout" Target="../slideLayouts/slideLayout2.xml"/><Relationship Id="rId6" Type="http://schemas.openxmlformats.org/officeDocument/2006/relationships/tags" Target="../tags/tag9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tags" Target="../tags/tag96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99.xml"/><Relationship Id="rId2" Type="http://schemas.openxmlformats.org/officeDocument/2006/relationships/image" Target="../media/image25.png"/><Relationship Id="rId1" Type="http://schemas.openxmlformats.org/officeDocument/2006/relationships/tags" Target="../tags/tag98.xml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101.xml"/><Relationship Id="rId4" Type="http://schemas.openxmlformats.org/officeDocument/2006/relationships/image" Target="../media/image28.png"/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tags" Target="../tags/tag10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3.xml"/><Relationship Id="rId1" Type="http://schemas.openxmlformats.org/officeDocument/2006/relationships/tags" Target="../tags/tag10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tags" Target="../tags/tag105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tags" Target="../tags/tag104.xml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07.xml"/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tags" Target="../tags/tag106.xml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09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tags" Target="../tags/tag108.xml"/></Relationships>
</file>

<file path=ppt/slides/_rels/slide2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11.xml"/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tags" Target="../tags/tag110.xml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13.xml"/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tags" Target="../tags/tag112.xml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15.xml"/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tags" Target="../tags/tag114.xml"/></Relationships>
</file>

<file path=ppt/slides/_rels/slide2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17.xml"/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tags" Target="../tags/tag116.xml"/></Relationships>
</file>

<file path=ppt/slides/_rels/slide2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119.xml"/><Relationship Id="rId4" Type="http://schemas.openxmlformats.org/officeDocument/2006/relationships/image" Target="../media/image48.png"/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tags" Target="../tags/tag118.xml"/></Relationships>
</file>

<file path=ppt/slides/_rels/slide2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121.xml"/><Relationship Id="rId4" Type="http://schemas.openxmlformats.org/officeDocument/2006/relationships/image" Target="../media/image50.png"/><Relationship Id="rId3" Type="http://schemas.openxmlformats.org/officeDocument/2006/relationships/image" Target="../media/image49.png"/><Relationship Id="rId2" Type="http://schemas.openxmlformats.org/officeDocument/2006/relationships/image" Target="../media/image46.png"/><Relationship Id="rId1" Type="http://schemas.openxmlformats.org/officeDocument/2006/relationships/tags" Target="../tags/tag120.xml"/></Relationships>
</file>

<file path=ppt/slides/_rels/slide3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123.xml"/><Relationship Id="rId4" Type="http://schemas.openxmlformats.org/officeDocument/2006/relationships/image" Target="../media/image53.png"/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tags" Target="../tags/tag122.xml"/></Relationships>
</file>

<file path=ppt/slides/_rels/slide3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25.xml"/><Relationship Id="rId2" Type="http://schemas.openxmlformats.org/officeDocument/2006/relationships/image" Target="../media/image54.png"/><Relationship Id="rId1" Type="http://schemas.openxmlformats.org/officeDocument/2006/relationships/tags" Target="../tags/tag12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7.xml"/><Relationship Id="rId1" Type="http://schemas.openxmlformats.org/officeDocument/2006/relationships/tags" Target="../tags/tag12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9.xml"/><Relationship Id="rId1" Type="http://schemas.openxmlformats.org/officeDocument/2006/relationships/tags" Target="../tags/tag128.xml"/></Relationships>
</file>

<file path=ppt/slides/_rels/slide3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32.xml"/><Relationship Id="rId2" Type="http://schemas.openxmlformats.org/officeDocument/2006/relationships/tags" Target="../tags/tag131.xml"/><Relationship Id="rId1" Type="http://schemas.openxmlformats.org/officeDocument/2006/relationships/tags" Target="../tags/tag1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935355" y="2243455"/>
            <a:ext cx="10636250" cy="953135"/>
          </a:xfrm>
        </p:spPr>
        <p:txBody>
          <a:bodyPr/>
          <a:p>
            <a:r>
              <a:rPr lang="zh-CN" altLang="zh-CN" sz="4400"/>
              <a:t>扩散模型</a:t>
            </a:r>
            <a:r>
              <a:rPr lang="zh-CN" altLang="zh-CN" sz="4400"/>
              <a:t>辅助二阶微分超表面逆向设计</a:t>
            </a:r>
            <a:endParaRPr lang="zh-CN" altLang="zh-CN" sz="440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3290570" y="4511675"/>
            <a:ext cx="4697730" cy="579120"/>
          </a:xfrm>
        </p:spPr>
        <p:txBody>
          <a:bodyPr>
            <a:noAutofit/>
          </a:bodyPr>
          <a:p>
            <a:r>
              <a:rPr lang="zh-CN" altLang="en-US" sz="2000" b="1"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李升欣</a:t>
            </a:r>
            <a:endParaRPr lang="zh-CN" altLang="en-US" sz="2000" b="1"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  <a:p>
            <a:r>
              <a:rPr lang="en-US" altLang="zh-CN" sz="2000" b="1"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3.21</a:t>
            </a:r>
            <a:endParaRPr lang="en-US" altLang="zh-CN" sz="2000" b="1"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cxnSp>
        <p:nvCxnSpPr>
          <p:cNvPr id="4" name="直接连接符 3"/>
          <p:cNvCxnSpPr/>
          <p:nvPr/>
        </p:nvCxnSpPr>
        <p:spPr>
          <a:xfrm>
            <a:off x="827405" y="367792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3925" y="231210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    </a:t>
            </a:r>
            <a:r>
              <a:rPr lang="zh-CN" altLang="en-US"/>
              <a:t>总体设计流程</a:t>
            </a:r>
            <a:r>
              <a:rPr lang="zh-CN" altLang="en-US"/>
              <a:t>框架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3662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595" y="1158875"/>
            <a:ext cx="9881870" cy="559752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3925" y="442665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自由形态超表面</a:t>
            </a:r>
            <a:r>
              <a:rPr lang="zh-CN" altLang="en-US"/>
              <a:t>结构生成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800735" y="5882640"/>
            <a:ext cx="1125410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自由形态结构生成算法框架图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：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高斯滤波保证最小可制造尺寸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对称性保证二阶微分近似各向同性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205" y="1542415"/>
            <a:ext cx="9892030" cy="434022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442665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自由形态超表面</a:t>
            </a:r>
            <a:r>
              <a:rPr lang="zh-CN" altLang="en-US"/>
              <a:t>结构生成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2870835" y="6031230"/>
            <a:ext cx="71901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数据集参数随机采样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：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保证数据集结构多样性</a:t>
            </a:r>
            <a:endParaRPr lang="zh-CN" altLang="en-US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1831975" y="1762125"/>
          <a:ext cx="8338185" cy="3965575"/>
        </p:xfrm>
        <a:graphic>
          <a:graphicData uri="http://schemas.openxmlformats.org/drawingml/2006/table">
            <a:tbl>
              <a:tblPr/>
              <a:tblGrid>
                <a:gridCol w="2404110"/>
                <a:gridCol w="3549650"/>
                <a:gridCol w="2384425"/>
              </a:tblGrid>
              <a:tr h="344805">
                <a:tc>
                  <a:txBody>
                    <a:bodyPr/>
                    <a:p>
                      <a:pPr algn="ctr" fontAlgn="ctr"/>
                      <a:r>
                        <a:rPr lang="zh-CN" altLang="en-US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参数</a:t>
                      </a:r>
                      <a:endParaRPr lang="zh-CN" altLang="en-US" sz="1100" b="1" i="0">
                        <a:solidFill>
                          <a:srgbClr val="FFFFFF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F73AB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采样 </a:t>
                      </a:r>
                      <a:r>
                        <a:rPr lang="en-US" altLang="zh-CN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/ </a:t>
                      </a:r>
                      <a:r>
                        <a:rPr lang="zh-CN" altLang="en-US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取值</a:t>
                      </a:r>
                      <a:endParaRPr lang="zh-CN" altLang="en-US" sz="1100" b="1" i="0">
                        <a:solidFill>
                          <a:srgbClr val="FFFFFF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F73AB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1100" b="1" i="0">
                          <a:solidFill>
                            <a:srgbClr val="FFFFFF"/>
                          </a:solidFill>
                          <a:latin typeface="Arial" panose="020B0604020202090204"/>
                          <a:ea typeface="Arial" panose="020B0604020202090204"/>
                        </a:rPr>
                        <a:t>作用</a:t>
                      </a:r>
                      <a:endParaRPr lang="zh-CN" altLang="en-US" sz="1100" b="1" i="0">
                        <a:solidFill>
                          <a:srgbClr val="FFFFFF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F73AB"/>
                    </a:solidFill>
                  </a:tcPr>
                </a:tc>
              </a:tr>
              <a:tr h="51689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TARGET_FILL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0.4 / 0.5 / 0.6 / 0.7 / 0.8</a:t>
                      </a:r>
                      <a:b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</a:br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尽量均分后打乱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控制整体疏密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N_COARSE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8 / 10 / 12</a:t>
                      </a:r>
                      <a:b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</a:b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p = 0.40 / 0.35 / 0.25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控制初始粗细尺度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</a:tr>
              <a:tr h="51689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SIGMA1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Uniform[1.70, 2.15]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第一次平滑强度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7525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SIGMA2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Uniform[1.00, 1.30]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第二次平滑强度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</a:tr>
              <a:tr h="51689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MIN_FEATURE_PX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5 / 6 / 7 / 8</a:t>
                      </a:r>
                      <a:b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</a:b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p = 0.18 / 0.24 / 0.34 / 0.24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控制最小特征尺寸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7525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N_FINE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固定 </a:t>
                      </a: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64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输出分辨率 </a:t>
                      </a: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64×64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AFBFD"/>
                    </a:solidFill>
                  </a:tcPr>
                </a:tc>
              </a:tr>
              <a:tr h="516890">
                <a:tc>
                  <a:txBody>
                    <a:bodyPr/>
                    <a:p>
                      <a:pPr algn="l" fontAlgn="ctr"/>
                      <a:r>
                        <a:rPr lang="en-US" altLang="zh-CN" sz="1100" b="1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 num_samples</a:t>
                      </a:r>
                      <a:endParaRPr lang="en-US" altLang="zh-CN" sz="1100" b="1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 </a:t>
                      </a: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5000-&gt;8000(</a:t>
                      </a:r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数据增强</a:t>
                      </a:r>
                      <a:r>
                        <a:rPr lang="en-US" altLang="zh-CN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)</a:t>
                      </a:r>
                      <a:endParaRPr lang="en-US" altLang="zh-CN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1100" b="0" i="0">
                          <a:solidFill>
                            <a:srgbClr val="323A47"/>
                          </a:solidFill>
                          <a:latin typeface="Arial" panose="020B0604020202090204"/>
                          <a:ea typeface="Arial" panose="020B0604020202090204"/>
                        </a:rPr>
                        <a:t>决定样本总数</a:t>
                      </a:r>
                      <a:endParaRPr lang="zh-CN" altLang="en-US" sz="1100" b="0" i="0">
                        <a:solidFill>
                          <a:srgbClr val="323A47"/>
                        </a:solidFill>
                        <a:latin typeface="Arial" panose="020B0604020202090204"/>
                        <a:ea typeface="Arial" panose="020B0604020202090204"/>
                      </a:endParaRPr>
                    </a:p>
                  </a:txBody>
                  <a:tcPr marL="13017" marR="13017" marT="13017" marB="0" anchor="ctr" anchorCtr="0">
                    <a:lnL>
                      <a:noFill/>
                    </a:lnL>
                    <a:lnR w="6350" cap="flat" cmpd="sng">
                      <a:solidFill>
                        <a:srgbClr val="95B3D7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E6EAF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3925" y="442665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自由形态超表面</a:t>
            </a:r>
            <a:r>
              <a:rPr lang="zh-CN" altLang="en-US"/>
              <a:t>结构生成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398780" y="6064250"/>
            <a:ext cx="1147889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自由形态结构数据集示意图部分展示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：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生成了满足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C4+sigmax+sigmay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对称性的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5000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个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64*64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结构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80" y="1945640"/>
            <a:ext cx="3380740" cy="359854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100" y="1945640"/>
            <a:ext cx="3757295" cy="370332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3975" y="1967865"/>
            <a:ext cx="3809365" cy="359854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623185" y="374650"/>
            <a:ext cx="685927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RCWA</a:t>
            </a:r>
            <a:r>
              <a:rPr lang="zh-CN" altLang="en-US"/>
              <a:t>光谱</a:t>
            </a:r>
            <a:r>
              <a:rPr lang="zh-CN" altLang="en-US"/>
              <a:t>仿真计算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7072630" y="6176010"/>
            <a:ext cx="28854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数据集仿真结果示意图</a:t>
            </a:r>
            <a:endParaRPr lang="en-US" altLang="zh-CN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3865" y="1602740"/>
            <a:ext cx="5982335" cy="433006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805" y="1577975"/>
            <a:ext cx="3828415" cy="224726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175" y="3922395"/>
            <a:ext cx="4024630" cy="245999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261745" y="318135"/>
            <a:ext cx="859663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en-US" altLang="zh-CN">
                <a:sym typeface="+mn-ea"/>
              </a:rPr>
              <a:t>RCWA</a:t>
            </a:r>
            <a:r>
              <a:rPr lang="zh-CN" altLang="en-US">
                <a:sym typeface="+mn-ea"/>
              </a:rPr>
              <a:t>光谱仿真计算数据集</a:t>
            </a:r>
            <a:r>
              <a:rPr lang="zh-CN" altLang="en-US">
                <a:sym typeface="+mn-ea"/>
              </a:rPr>
              <a:t>分析</a:t>
            </a:r>
            <a:endParaRPr lang="zh-CN" altLang="en-US"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749300" y="117602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1951355" y="5995670"/>
            <a:ext cx="80765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Score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打分函数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：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衡量超表面在某个波长上的二阶微分性能</a:t>
            </a:r>
            <a:endParaRPr lang="en-US" altLang="zh-CN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375" y="1682115"/>
            <a:ext cx="8297545" cy="40640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520825" y="318135"/>
            <a:ext cx="859663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en-US" altLang="zh-CN">
                <a:sym typeface="+mn-ea"/>
              </a:rPr>
              <a:t>RCWA</a:t>
            </a:r>
            <a:r>
              <a:rPr lang="zh-CN" altLang="en-US">
                <a:sym typeface="+mn-ea"/>
              </a:rPr>
              <a:t>光谱仿真计算数据集</a:t>
            </a:r>
            <a:r>
              <a:rPr lang="zh-CN" altLang="en-US">
                <a:sym typeface="+mn-ea"/>
              </a:rPr>
              <a:t>分析</a:t>
            </a:r>
            <a:endParaRPr lang="zh-CN" altLang="en-US"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2226945" y="6229350"/>
            <a:ext cx="84886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数据集中各波长中分数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Score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最高的结构的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t（theta）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响应图</a:t>
            </a:r>
            <a:endParaRPr lang="zh-CN" altLang="en-US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8" name="图片 7" descr="af678f13fababb63465bec19607f6c6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7750" y="1579245"/>
            <a:ext cx="7936865" cy="432879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520825" y="318135"/>
            <a:ext cx="859663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en-US" altLang="zh-CN">
                <a:sym typeface="+mn-ea"/>
              </a:rPr>
              <a:t>RCWA</a:t>
            </a:r>
            <a:r>
              <a:rPr lang="zh-CN" altLang="en-US">
                <a:sym typeface="+mn-ea"/>
              </a:rPr>
              <a:t>光谱仿真计算数据集</a:t>
            </a:r>
            <a:r>
              <a:rPr lang="zh-CN" altLang="en-US">
                <a:sym typeface="+mn-ea"/>
              </a:rPr>
              <a:t>分析</a:t>
            </a:r>
            <a:endParaRPr lang="zh-CN" altLang="en-US"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5824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2933700" y="5756275"/>
            <a:ext cx="12395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1000</a:t>
            </a:r>
            <a:r>
              <a:rPr lang="en-US" altLang="zh-CN"/>
              <a:t>nm</a:t>
            </a:r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7945120" y="5713095"/>
            <a:ext cx="1239520" cy="399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900</a:t>
            </a:r>
            <a:r>
              <a:rPr lang="en-US" altLang="zh-CN"/>
              <a:t>nm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1002665" y="6218555"/>
            <a:ext cx="1029208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可以看出数据集近似包含了理想二阶微分结构的参数空间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</a:rPr>
              <a:t>保证了模型训练的学习效果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pic>
        <p:nvPicPr>
          <p:cNvPr id="11" name="图片 10"/>
          <p:cNvPicPr/>
          <p:nvPr/>
        </p:nvPicPr>
        <p:blipFill>
          <a:blip r:embed="rId2"/>
          <a:stretch>
            <a:fillRect/>
          </a:stretch>
        </p:blipFill>
        <p:spPr>
          <a:xfrm>
            <a:off x="6072188" y="3414713"/>
            <a:ext cx="9525" cy="9525"/>
          </a:xfrm>
          <a:prstGeom prst="rect">
            <a:avLst/>
          </a:prstGeom>
        </p:spPr>
      </p:pic>
      <p:pic>
        <p:nvPicPr>
          <p:cNvPr id="12" name="图片 11" descr="c3acb63a-a0ad-45ce-8d51-5a67ab2fc2b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5930" y="1760220"/>
            <a:ext cx="3914775" cy="3856355"/>
          </a:xfrm>
          <a:prstGeom prst="rect">
            <a:avLst/>
          </a:prstGeom>
        </p:spPr>
      </p:pic>
      <p:pic>
        <p:nvPicPr>
          <p:cNvPr id="13" name="图片 12" descr="5c5775a0e23888285561d32759f37e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385" y="1683385"/>
            <a:ext cx="4364990" cy="387477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844925" y="1275080"/>
            <a:ext cx="4502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C00000"/>
                </a:solidFill>
              </a:rPr>
              <a:t>score&gt;0.5</a:t>
            </a:r>
            <a:r>
              <a:rPr lang="zh-CN" altLang="en-US">
                <a:solidFill>
                  <a:srgbClr val="C00000"/>
                </a:solidFill>
              </a:rPr>
              <a:t>的结果数据比例大约为</a:t>
            </a:r>
            <a:r>
              <a:rPr lang="en-US" altLang="zh-CN">
                <a:solidFill>
                  <a:srgbClr val="C00000"/>
                </a:solidFill>
              </a:rPr>
              <a:t>4%</a:t>
            </a:r>
            <a:endParaRPr lang="en-US" altLang="zh-CN">
              <a:solidFill>
                <a:srgbClr val="C00000"/>
              </a:solidFill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715645" y="254635"/>
            <a:ext cx="1048004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    </a:t>
            </a:r>
            <a:r>
              <a:rPr lang="zh-CN" altLang="en-US"/>
              <a:t>前向代理模型</a:t>
            </a:r>
            <a:r>
              <a:rPr lang="zh-CN" altLang="en-US"/>
              <a:t>架构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4490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565" y="1329690"/>
            <a:ext cx="8992235" cy="4624705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2913380" y="6139180"/>
            <a:ext cx="67881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CNN Encoder+MLP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的结构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-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光谱前向代理预测模型架构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63925" y="166440"/>
            <a:ext cx="10969200" cy="705600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前向代理模型训练误差</a:t>
            </a:r>
            <a:r>
              <a:rPr lang="zh-CN" altLang="en-US"/>
              <a:t>曲线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5059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7" name="图片 6" descr="40adc467e4e75673f13e1173febabe7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240" y="1171575"/>
            <a:ext cx="7378700" cy="491934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1925320" y="6090920"/>
            <a:ext cx="88874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OTF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光谱平均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MAE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误差约为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0.095，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训练有轻微一定拟合迹象</a:t>
            </a:r>
            <a:endParaRPr lang="zh-CN" altLang="en-US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183130" y="133350"/>
            <a:ext cx="7642225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zh-CN" altLang="en-US"/>
              <a:t>扩散模型训练</a:t>
            </a:r>
            <a:r>
              <a:rPr lang="zh-CN" altLang="en-US"/>
              <a:t>算法流程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85852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85" y="1078865"/>
            <a:ext cx="8184515" cy="500888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440940" y="6308090"/>
            <a:ext cx="7762240" cy="39878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i="0">
                <a:solidFill>
                  <a:srgbClr val="C00000"/>
                </a:solidFill>
                <a:latin typeface="ui-sans-serif"/>
                <a:ea typeface="ui-sans-serif"/>
              </a:rPr>
              <a:t>基于 </a:t>
            </a:r>
            <a:r>
              <a:rPr lang="en-US" altLang="zh-CN" sz="2000" b="1" i="0">
                <a:solidFill>
                  <a:srgbClr val="C00000"/>
                </a:solidFill>
                <a:latin typeface="ui-sans-serif"/>
                <a:ea typeface="ui-sans-serif"/>
              </a:rPr>
              <a:t>DDPM </a:t>
            </a:r>
            <a:r>
              <a:rPr lang="zh-CN" altLang="en-US" sz="2000" b="1" i="0">
                <a:solidFill>
                  <a:srgbClr val="C00000"/>
                </a:solidFill>
                <a:latin typeface="ui-sans-serif"/>
                <a:ea typeface="ui-sans-serif"/>
              </a:rPr>
              <a:t>思想的融合物理损失的条件控制扩散模型训练框架</a:t>
            </a:r>
            <a:endParaRPr lang="zh-CN" altLang="en-US" sz="2000" b="1" i="0">
              <a:solidFill>
                <a:srgbClr val="C00000"/>
              </a:solidFill>
              <a:latin typeface="ui-sans-serif"/>
              <a:ea typeface="ui-sans-serif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321560" y="271145"/>
            <a:ext cx="7165340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</a:t>
            </a:r>
            <a:r>
              <a:rPr lang="zh-CN" altLang="en-US"/>
              <a:t>扩散模型</a:t>
            </a:r>
            <a:r>
              <a:rPr lang="en-US" altLang="zh-CN"/>
              <a:t>U-Net</a:t>
            </a:r>
            <a:r>
              <a:rPr lang="zh-CN" altLang="en-US"/>
              <a:t>模型</a:t>
            </a:r>
            <a:r>
              <a:rPr lang="zh-CN" altLang="en-US"/>
              <a:t>架构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7663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图片 5" descr="e1a1e5b8cf947fe8550a0fb5a3ecc0d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975" y="1143000"/>
            <a:ext cx="7527925" cy="485902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444625" y="6002020"/>
            <a:ext cx="93027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光谱条件经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Transformer 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编码为全局向量与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187 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个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token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，分别通过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AdaGN 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和交叉注意力双路注入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UNet</a:t>
            </a:r>
            <a:endParaRPr lang="en-US" altLang="zh-CN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844675" y="372110"/>
            <a:ext cx="7642225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   </a:t>
            </a:r>
            <a:r>
              <a:rPr lang="zh-CN" altLang="en-US"/>
              <a:t>扩散模型训练参数</a:t>
            </a:r>
            <a:r>
              <a:rPr lang="zh-CN" altLang="en-US"/>
              <a:t>设置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20332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415" y="1458595"/>
            <a:ext cx="8026400" cy="51562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844675" y="372110"/>
            <a:ext cx="7642225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       </a:t>
            </a:r>
            <a:r>
              <a:rPr lang="zh-CN" altLang="en-US"/>
              <a:t>扩散模型</a:t>
            </a:r>
            <a:r>
              <a:rPr lang="zh-CN" altLang="en-US"/>
              <a:t>训练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20332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2696210" y="6217285"/>
            <a:ext cx="743077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扩散模型训练结果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Loss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曲线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：80 epoch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后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Loss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稳定在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0.1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左右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845" y="1329055"/>
            <a:ext cx="8334375" cy="47625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844675" y="196850"/>
            <a:ext cx="7642225" cy="705485"/>
          </a:xfrm>
        </p:spPr>
        <p:txBody>
          <a:bodyPr>
            <a:normAutofit/>
          </a:bodyPr>
          <a:p>
            <a:pPr algn="l"/>
            <a:r>
              <a:rPr lang="en-US" altLang="zh-CN"/>
              <a:t>           </a:t>
            </a:r>
            <a:r>
              <a:rPr lang="zh-CN" altLang="en-US"/>
              <a:t>扩散模型推理</a:t>
            </a:r>
            <a:r>
              <a:rPr lang="zh-CN" altLang="en-US"/>
              <a:t>采样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8996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555" y="1127760"/>
            <a:ext cx="8797925" cy="4871085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000125" y="5998845"/>
            <a:ext cx="1048004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物理引导扩散模型推理采样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32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个结构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选取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Top-K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个结构以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Score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函数为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FOM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进行拓扑优化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169160" y="134620"/>
            <a:ext cx="6607810" cy="705485"/>
          </a:xfrm>
        </p:spPr>
        <p:txBody>
          <a:bodyPr>
            <a:normAutofit fontScale="90000"/>
          </a:bodyPr>
          <a:p>
            <a:pPr algn="l"/>
            <a:r>
              <a:rPr lang="en-US" altLang="zh-CN"/>
              <a:t>         </a:t>
            </a:r>
            <a:r>
              <a:rPr lang="zh-CN" altLang="en-US"/>
              <a:t>扩散模型推理采样</a:t>
            </a:r>
            <a:r>
              <a:rPr lang="zh-CN" altLang="en-US"/>
              <a:t>结果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99060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15" y="1256665"/>
            <a:ext cx="4664075" cy="468884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951355" y="6211570"/>
            <a:ext cx="28448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扩散模型输出结果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Top5</a:t>
            </a:r>
            <a:endParaRPr lang="en-US" altLang="zh-CN" sz="16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6" name="图片 5" descr="91b1084e37880b5ed3a7938e37c20c8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220" y="1141095"/>
            <a:ext cx="2356485" cy="2089150"/>
          </a:xfrm>
          <a:prstGeom prst="rect">
            <a:avLst/>
          </a:prstGeom>
        </p:spPr>
      </p:pic>
      <p:pic>
        <p:nvPicPr>
          <p:cNvPr id="10" name="图片 9" descr="abae93a8b1786a722e393d4a1234c2e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8965" y="1231900"/>
            <a:ext cx="2497455" cy="199834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6880860" y="3333115"/>
            <a:ext cx="29864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扩散模型最优结构光谱</a:t>
            </a:r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响应</a:t>
            </a:r>
            <a:endParaRPr lang="zh-CN" altLang="en-US" sz="16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947410" y="6226175"/>
            <a:ext cx="48533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拓扑优化后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Score</a:t>
            </a:r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从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0.7904 </a:t>
            </a:r>
            <a:r>
              <a:rPr lang="en-US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→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0.8475</a:t>
            </a:r>
            <a:r>
              <a:rPr lang="zh-CN" altLang="en-US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，提升约</a:t>
            </a:r>
            <a:r>
              <a:rPr lang="en-US" altLang="zh-CN" sz="16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 7%</a:t>
            </a:r>
            <a:endParaRPr lang="en-US" altLang="zh-CN" sz="16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15" name="图片 14" descr="4050d7f27374a958f615b1420934def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2590" y="3812540"/>
            <a:ext cx="5455285" cy="2207895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458335" y="437515"/>
            <a:ext cx="3274695" cy="478155"/>
          </a:xfrm>
        </p:spPr>
        <p:txBody>
          <a:bodyPr>
            <a:normAutofit fontScale="90000"/>
          </a:bodyPr>
          <a:p>
            <a:r>
              <a:rPr lang="zh-CN" altLang="en-US"/>
              <a:t>数据增强</a:t>
            </a:r>
            <a:r>
              <a:rPr lang="zh-CN" altLang="en-US"/>
              <a:t>尝试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30" y="1226185"/>
            <a:ext cx="10982325" cy="418655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685925" y="5961380"/>
            <a:ext cx="940244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增强数据训练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初步结果：模型误差大概降低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14%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，推理性能分数大概提高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10%</a:t>
            </a:r>
            <a:endParaRPr lang="en-US" altLang="zh-CN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220980" y="5412740"/>
            <a:ext cx="117309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rgbClr val="C00000"/>
                </a:solidFill>
              </a:rPr>
              <a:t>数据增强</a:t>
            </a:r>
            <a:r>
              <a:rPr lang="en-US" altLang="zh-CN" sz="2000" b="1">
                <a:solidFill>
                  <a:srgbClr val="C00000"/>
                </a:solidFill>
              </a:rPr>
              <a:t>：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生成大量随机结构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通过前向模型快速计算</a:t>
            </a:r>
            <a:r>
              <a:rPr lang="en-US" altLang="zh-CN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OTF，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选取打分最高的数据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重新进行仿真</a:t>
            </a:r>
            <a:r>
              <a:rPr lang="zh-CN" altLang="en-US" sz="20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  <a:sym typeface="+mn-ea"/>
              </a:rPr>
              <a:t>和训练</a:t>
            </a:r>
            <a:endParaRPr lang="zh-CN" altLang="en-US" sz="20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458335" y="437515"/>
            <a:ext cx="3274695" cy="478155"/>
          </a:xfrm>
        </p:spPr>
        <p:txBody>
          <a:bodyPr>
            <a:normAutofit fontScale="90000"/>
          </a:bodyPr>
          <a:p>
            <a:r>
              <a:rPr lang="zh-CN" altLang="en-US"/>
              <a:t>模型</a:t>
            </a:r>
            <a:r>
              <a:rPr lang="zh-CN" altLang="en-US"/>
              <a:t>效果对比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027430" y="6285865"/>
            <a:ext cx="11163935" cy="478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 b="1">
                <a:solidFill>
                  <a:srgbClr val="C00000"/>
                </a:solidFill>
              </a:rPr>
              <a:t>Diffusion</a:t>
            </a:r>
            <a:r>
              <a:rPr lang="zh-CN" altLang="en-US" sz="2000" b="1">
                <a:solidFill>
                  <a:srgbClr val="C00000"/>
                </a:solidFill>
              </a:rPr>
              <a:t>明显强于</a:t>
            </a:r>
            <a:r>
              <a:rPr lang="en-US" altLang="zh-CN" sz="2000" b="1">
                <a:solidFill>
                  <a:srgbClr val="C00000"/>
                </a:solidFill>
              </a:rPr>
              <a:t>CGAN，</a:t>
            </a:r>
            <a:r>
              <a:rPr lang="zh-CN" altLang="en-US" sz="2000" b="1">
                <a:solidFill>
                  <a:srgbClr val="C00000"/>
                </a:solidFill>
              </a:rPr>
              <a:t>拓扑优化</a:t>
            </a:r>
            <a:r>
              <a:rPr lang="en-US" altLang="zh-CN" sz="2000" b="1">
                <a:solidFill>
                  <a:srgbClr val="C00000"/>
                </a:solidFill>
              </a:rPr>
              <a:t>，</a:t>
            </a:r>
            <a:r>
              <a:rPr lang="zh-CN" altLang="en-US" sz="2000" b="1">
                <a:solidFill>
                  <a:srgbClr val="C00000"/>
                </a:solidFill>
              </a:rPr>
              <a:t>略强于</a:t>
            </a:r>
            <a:r>
              <a:rPr lang="en-US" altLang="zh-CN" sz="2000" b="1">
                <a:solidFill>
                  <a:srgbClr val="C00000"/>
                </a:solidFill>
              </a:rPr>
              <a:t>CVAE，</a:t>
            </a:r>
            <a:r>
              <a:rPr lang="zh-CN" altLang="en-US" sz="2000" b="1">
                <a:solidFill>
                  <a:srgbClr val="C00000"/>
                </a:solidFill>
              </a:rPr>
              <a:t>但</a:t>
            </a:r>
            <a:r>
              <a:rPr lang="en-US" altLang="zh-CN" sz="2000" b="1">
                <a:solidFill>
                  <a:srgbClr val="C00000"/>
                </a:solidFill>
              </a:rPr>
              <a:t>CVAE</a:t>
            </a:r>
            <a:r>
              <a:rPr lang="zh-CN" altLang="en-US" sz="2000" b="1">
                <a:solidFill>
                  <a:srgbClr val="C00000"/>
                </a:solidFill>
              </a:rPr>
              <a:t>的</a:t>
            </a:r>
            <a:r>
              <a:rPr lang="en-US" altLang="zh-CN" sz="2000" b="1">
                <a:solidFill>
                  <a:srgbClr val="C00000"/>
                </a:solidFill>
              </a:rPr>
              <a:t>Error</a:t>
            </a:r>
            <a:r>
              <a:rPr lang="zh-CN" altLang="en-US" sz="2000" b="1">
                <a:solidFill>
                  <a:srgbClr val="C00000"/>
                </a:solidFill>
              </a:rPr>
              <a:t>更高</a:t>
            </a:r>
            <a:r>
              <a:rPr lang="en-US" altLang="zh-CN" sz="2000" b="1">
                <a:solidFill>
                  <a:srgbClr val="C00000"/>
                </a:solidFill>
              </a:rPr>
              <a:t>，</a:t>
            </a:r>
            <a:r>
              <a:rPr lang="zh-CN" altLang="en-US" sz="2000" b="1">
                <a:solidFill>
                  <a:srgbClr val="C00000"/>
                </a:solidFill>
              </a:rPr>
              <a:t>存在</a:t>
            </a:r>
            <a:r>
              <a:rPr lang="zh-CN" altLang="en-US" sz="2000" b="1">
                <a:solidFill>
                  <a:srgbClr val="C00000"/>
                </a:solidFill>
              </a:rPr>
              <a:t>偶然性</a:t>
            </a:r>
            <a:endParaRPr lang="zh-CN" altLang="en-US" sz="2000" b="1">
              <a:solidFill>
                <a:srgbClr val="C00000"/>
              </a:solidFill>
            </a:endParaRPr>
          </a:p>
        </p:txBody>
      </p:sp>
      <p:pic>
        <p:nvPicPr>
          <p:cNvPr id="3" name="图片 2" descr="9ec56b0758dcc444b3526009a90b8e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590" y="1397635"/>
            <a:ext cx="3625850" cy="1680210"/>
          </a:xfrm>
          <a:prstGeom prst="rect">
            <a:avLst/>
          </a:prstGeom>
        </p:spPr>
      </p:pic>
      <p:pic>
        <p:nvPicPr>
          <p:cNvPr id="4" name="图片 3" descr="0184c8e4ce808d7aeae1a6fd2ae69d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2025" y="1329690"/>
            <a:ext cx="3625215" cy="1844040"/>
          </a:xfrm>
          <a:prstGeom prst="rect">
            <a:avLst/>
          </a:prstGeom>
        </p:spPr>
      </p:pic>
      <p:pic>
        <p:nvPicPr>
          <p:cNvPr id="10" name="图片 9" descr="c426f897e6ea1e517e7ca194324b63f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0925" y="3367405"/>
            <a:ext cx="7346315" cy="264604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829685" y="437515"/>
            <a:ext cx="4326890" cy="478155"/>
          </a:xfrm>
        </p:spPr>
        <p:txBody>
          <a:bodyPr>
            <a:normAutofit fontScale="90000"/>
          </a:bodyPr>
          <a:p>
            <a:r>
              <a:rPr lang="zh-CN" altLang="en-US"/>
              <a:t>模型推理应用</a:t>
            </a:r>
            <a:r>
              <a:rPr lang="zh-CN" altLang="en-US"/>
              <a:t>设计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2185035" y="1329690"/>
            <a:ext cx="8053705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p</a:t>
            </a:r>
            <a:r>
              <a:rPr lang="zh-CN" altLang="en-US" sz="2400"/>
              <a:t>偏振</a:t>
            </a:r>
            <a:r>
              <a:rPr lang="en-US" altLang="zh-CN" sz="2400"/>
              <a:t>：     p</a:t>
            </a:r>
            <a:r>
              <a:rPr lang="zh-CN" altLang="en-US" sz="2400"/>
              <a:t>偏振高透过大</a:t>
            </a:r>
            <a:r>
              <a:rPr lang="en-US" altLang="zh-CN" sz="2400"/>
              <a:t>NA</a:t>
            </a:r>
            <a:r>
              <a:rPr lang="zh-CN" altLang="en-US" sz="2400"/>
              <a:t>二阶微分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偏振无关</a:t>
            </a:r>
            <a:r>
              <a:rPr lang="en-US" altLang="zh-CN" sz="2400"/>
              <a:t>： s、p </a:t>
            </a:r>
            <a:r>
              <a:rPr lang="zh-CN" altLang="en-US" sz="2400"/>
              <a:t>双二阶偏振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偏振复用</a:t>
            </a:r>
            <a:r>
              <a:rPr lang="en-US" altLang="zh-CN" sz="2400"/>
              <a:t>： p</a:t>
            </a:r>
            <a:r>
              <a:rPr lang="zh-CN" altLang="en-US" sz="2400"/>
              <a:t>偏振二阶微分</a:t>
            </a:r>
            <a:r>
              <a:rPr lang="en-US" altLang="zh-CN" sz="2400"/>
              <a:t>， s</a:t>
            </a:r>
            <a:r>
              <a:rPr lang="zh-CN" altLang="en-US" sz="2400"/>
              <a:t>偏振抑制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四阶微分</a:t>
            </a:r>
            <a:r>
              <a:rPr lang="en-US" altLang="zh-CN" sz="2400"/>
              <a:t>： </a:t>
            </a:r>
            <a:r>
              <a:rPr lang="zh-CN" altLang="en-US" sz="2400"/>
              <a:t>高透过大</a:t>
            </a:r>
            <a:r>
              <a:rPr lang="en-US" altLang="zh-CN" sz="2400"/>
              <a:t>NA</a:t>
            </a:r>
            <a:r>
              <a:rPr lang="zh-CN" altLang="en-US" sz="2400"/>
              <a:t>超表面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低通滤波</a:t>
            </a:r>
            <a:r>
              <a:rPr lang="en-US" altLang="zh-CN" sz="2400"/>
              <a:t>： </a:t>
            </a:r>
            <a:r>
              <a:rPr lang="zh-CN" altLang="en-US" sz="2400"/>
              <a:t>指数衰减形</a:t>
            </a:r>
            <a:endParaRPr lang="zh-CN" altLang="en-US" sz="2400"/>
          </a:p>
          <a:p>
            <a:pPr marL="285750" indent="-285750" fontAlgn="auto">
              <a:lnSpc>
                <a:spcPct val="200000"/>
              </a:lnSpc>
              <a:buFont typeface="Wingdings" panose="05000000000000000000" charset="0"/>
              <a:buChar char=""/>
            </a:pPr>
            <a:r>
              <a:rPr lang="en-US" altLang="zh-CN" sz="2400"/>
              <a:t> </a:t>
            </a:r>
            <a:r>
              <a:rPr lang="zh-CN" altLang="en-US" sz="2400"/>
              <a:t>时空微分</a:t>
            </a:r>
            <a:r>
              <a:rPr lang="en-US" altLang="zh-CN" sz="2400"/>
              <a:t>： </a:t>
            </a:r>
            <a:r>
              <a:rPr lang="zh-CN" altLang="en-US" sz="2400"/>
              <a:t>二阶时空微分超表面</a:t>
            </a:r>
            <a:endParaRPr lang="zh-CN" altLang="en-US" sz="2400"/>
          </a:p>
        </p:txBody>
      </p:sp>
    </p:spTree>
    <p:custDataLst>
      <p:tags r:id="rId2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298700" y="437515"/>
            <a:ext cx="7660005" cy="478155"/>
          </a:xfrm>
        </p:spPr>
        <p:txBody>
          <a:bodyPr>
            <a:normAutofit fontScale="90000"/>
          </a:bodyPr>
          <a:p>
            <a:r>
              <a:rPr lang="en-US" altLang="zh-CN"/>
              <a:t>p</a:t>
            </a:r>
            <a:r>
              <a:rPr lang="zh-CN" altLang="en-US"/>
              <a:t>偏振二阶微分逆向设计与</a:t>
            </a:r>
            <a:r>
              <a:rPr lang="zh-CN" altLang="en-US"/>
              <a:t>实验验证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720" y="3993515"/>
            <a:ext cx="2419350" cy="1969135"/>
          </a:xfrm>
          <a:prstGeom prst="rect">
            <a:avLst/>
          </a:prstGeom>
        </p:spPr>
      </p:pic>
      <p:pic>
        <p:nvPicPr>
          <p:cNvPr id="4" name="图片 3" descr="b750e94af1f16c4cd42974eebb4e63f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475" y="1329690"/>
            <a:ext cx="6826885" cy="224980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812290" y="6372225"/>
            <a:ext cx="8858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1050nm： Score=0.988， </a:t>
            </a:r>
            <a:r>
              <a:rPr lang="zh-CN" altLang="en-US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透过率振幅比</a:t>
            </a:r>
            <a:r>
              <a:rPr lang="en-US" altLang="zh-CN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=0.97， </a:t>
            </a:r>
            <a:r>
              <a:rPr lang="zh-CN" altLang="en-US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工作带宽</a:t>
            </a:r>
            <a:r>
              <a:rPr lang="en-US" altLang="zh-CN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=100nm， NA=0.64</a:t>
            </a:r>
            <a:endParaRPr lang="en-US" altLang="zh-CN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510" y="3931285"/>
            <a:ext cx="2950210" cy="223901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2070" y="3632200"/>
            <a:ext cx="5087620" cy="246507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0940" y="1356360"/>
            <a:ext cx="2419350" cy="2212975"/>
          </a:xfrm>
          <a:prstGeom prst="rect">
            <a:avLst/>
          </a:prstGeom>
        </p:spPr>
      </p:pic>
    </p:spTree>
    <p:custDataLst>
      <p:tags r:id="rId7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51630" y="437515"/>
            <a:ext cx="4342130" cy="478155"/>
          </a:xfrm>
        </p:spPr>
        <p:txBody>
          <a:bodyPr>
            <a:normAutofit fontScale="90000"/>
          </a:bodyPr>
          <a:p>
            <a:r>
              <a:rPr lang="zh-CN" altLang="en-US"/>
              <a:t>偏振无关二阶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 descr="4b430233f9c34f7b8da0a1a36fea45f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6670" y="1584960"/>
            <a:ext cx="7696835" cy="278574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030" y="1584960"/>
            <a:ext cx="2962275" cy="289306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51630" y="437515"/>
            <a:ext cx="4342130" cy="478155"/>
          </a:xfrm>
        </p:spPr>
        <p:txBody>
          <a:bodyPr>
            <a:normAutofit fontScale="90000"/>
          </a:bodyPr>
          <a:p>
            <a:r>
              <a:rPr lang="zh-CN" altLang="en-US"/>
              <a:t>偏振无关二阶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 descr="b4709aa2-bb7b-4ab2-9e2e-8eeb814a7b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005" y="1549400"/>
            <a:ext cx="7812405" cy="282702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80" y="1549400"/>
            <a:ext cx="2893060" cy="267017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51630" y="437515"/>
            <a:ext cx="4342130" cy="478155"/>
          </a:xfrm>
        </p:spPr>
        <p:txBody>
          <a:bodyPr>
            <a:normAutofit fontScale="90000"/>
          </a:bodyPr>
          <a:p>
            <a:r>
              <a:rPr lang="zh-CN" altLang="en-US"/>
              <a:t>偏振无关二阶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710" y="1687195"/>
            <a:ext cx="2665730" cy="2508250"/>
          </a:xfrm>
          <a:prstGeom prst="rect">
            <a:avLst/>
          </a:prstGeom>
        </p:spPr>
      </p:pic>
      <p:pic>
        <p:nvPicPr>
          <p:cNvPr id="3" name="图片 2" descr="9b0e86258e4d02aa3672a4104d3067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540" y="1687195"/>
            <a:ext cx="7251700" cy="262445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偏振</a:t>
            </a:r>
            <a:r>
              <a:rPr lang="zh-CN" altLang="en-US"/>
              <a:t>复用二阶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1695450" y="5991860"/>
            <a:ext cx="863854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1100nm：p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偏振理想二阶微分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，s</a:t>
            </a:r>
            <a:r>
              <a:rPr lang="zh-CN" altLang="en-US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偏振抑制</a:t>
            </a:r>
            <a:r>
              <a:rPr lang="en-US" altLang="zh-CN" sz="2400" b="1">
                <a:solidFill>
                  <a:srgbClr val="C00000"/>
                </a:solidFill>
                <a:latin typeface="PingFang SC Semibold" panose="020B0400000000000000" charset="-122"/>
                <a:ea typeface="PingFang SC Semibold" panose="020B0400000000000000" charset="-122"/>
                <a:cs typeface="PingFang SC Semibold" panose="020B0400000000000000" charset="-122"/>
              </a:rPr>
              <a:t>（｜t｜&lt;0.03）</a:t>
            </a:r>
            <a:endParaRPr lang="en-US" altLang="zh-CN" sz="2400" b="1">
              <a:solidFill>
                <a:srgbClr val="C00000"/>
              </a:solidFill>
              <a:latin typeface="PingFang SC Semibold" panose="020B0400000000000000" charset="-122"/>
              <a:ea typeface="PingFang SC Semibold" panose="020B0400000000000000" charset="-122"/>
              <a:cs typeface="PingFang SC Semibold" panose="020B0400000000000000" charset="-122"/>
            </a:endParaRPr>
          </a:p>
        </p:txBody>
      </p:sp>
      <p:pic>
        <p:nvPicPr>
          <p:cNvPr id="4" name="图片 3" descr="4d100cd984c319d0b374006c4dc9a56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2555" y="1329690"/>
            <a:ext cx="7397115" cy="267652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50" y="1612265"/>
            <a:ext cx="2257425" cy="217297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911090" y="437515"/>
            <a:ext cx="2004060" cy="478155"/>
          </a:xfrm>
        </p:spPr>
        <p:txBody>
          <a:bodyPr>
            <a:normAutofit fontScale="90000"/>
          </a:bodyPr>
          <a:p>
            <a:r>
              <a:rPr lang="zh-CN" altLang="en-US"/>
              <a:t>四阶</a:t>
            </a:r>
            <a:r>
              <a:rPr lang="zh-CN" altLang="en-US"/>
              <a:t>微分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7845" y="1696085"/>
            <a:ext cx="4236720" cy="312166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275" y="1696085"/>
            <a:ext cx="3194685" cy="305625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四阶</a:t>
            </a:r>
            <a:r>
              <a:rPr lang="zh-CN" altLang="en-US"/>
              <a:t>微分超表面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 descr="a653adc424cdfcacd7723b311402b54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5735" y="1556385"/>
            <a:ext cx="7721600" cy="29464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56385"/>
            <a:ext cx="2962275" cy="289179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低通滤波</a:t>
            </a:r>
            <a:r>
              <a:rPr lang="zh-CN" altLang="en-US"/>
              <a:t>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570" y="6089015"/>
            <a:ext cx="3124200" cy="6731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025" y="1402715"/>
            <a:ext cx="2915285" cy="280987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5535" y="1402715"/>
            <a:ext cx="4115435" cy="280924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低通滤波</a:t>
            </a:r>
            <a:r>
              <a:rPr lang="zh-CN" altLang="en-US"/>
              <a:t>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590" y="5840730"/>
            <a:ext cx="3124200" cy="67310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39240"/>
            <a:ext cx="4274185" cy="338264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615" y="1329690"/>
            <a:ext cx="3740785" cy="359219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二阶时空</a:t>
            </a:r>
            <a:r>
              <a:rPr lang="zh-CN" altLang="en-US"/>
              <a:t>微分超表面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890" y="1369060"/>
            <a:ext cx="5037455" cy="310642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645" y="1237615"/>
            <a:ext cx="4211320" cy="333438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5" y="4721860"/>
            <a:ext cx="9936480" cy="192913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478155"/>
          </a:xfrm>
        </p:spPr>
        <p:txBody>
          <a:bodyPr>
            <a:normAutofit fontScale="90000"/>
          </a:bodyPr>
          <a:p>
            <a:r>
              <a:rPr lang="zh-CN" altLang="en-US"/>
              <a:t>二阶时空</a:t>
            </a:r>
            <a:r>
              <a:rPr lang="zh-CN" altLang="en-US"/>
              <a:t>微分超表面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122680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935" y="1329690"/>
            <a:ext cx="9322435" cy="526478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76200"/>
          </a:xfrm>
        </p:spPr>
        <p:txBody>
          <a:bodyPr>
            <a:normAutofit fontScale="90000"/>
          </a:bodyPr>
          <a:p>
            <a:r>
              <a:rPr lang="zh-CN" altLang="en-US"/>
              <a:t>文章结构</a:t>
            </a:r>
            <a:r>
              <a:rPr lang="zh-CN" altLang="en-US"/>
              <a:t>设计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81851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608330" y="1123315"/>
            <a:ext cx="13897610" cy="5338445"/>
          </a:xfrm>
          <a:prstGeom prst="rect">
            <a:avLst/>
          </a:prstGeom>
        </p:spPr>
        <p:txBody>
          <a:bodyPr wrap="square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Physics-consistent generative inverse design of angle-resolved Fourier-operator metasurfaces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一 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Introduction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1.1 OTF engineer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1.2 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逆向设计的问题：结构与角谱响应之间关系复杂、高维、非线性，经验试错效率低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1.3 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已有工作：不够自由，局限于结构参数； 不通用，忽略角度 ； 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rcwa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效率低 ；不能设计多功能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1.4 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贡献：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构建自由形态二值结构与 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OTF 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的数据生成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标注流程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提出条件生成逆向设计框架： 打分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---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数据制备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---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模型训练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---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模型推理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---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样本择优的闭环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形成通用的角度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频率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振幅三维通用设计范式：应用在二阶，偏振复用，四阶，低通，时空微分等场景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SOTA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二 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Methods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2.0 Framework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： 简单讲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清晰框架图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2.1 dataset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： 算法流程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数据增强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评价指标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2.2 forward model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： 架构（简单讲）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+Loss </a:t>
            </a:r>
            <a:endParaRPr lang="en-US" altLang="zh-CN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2.3 diffusion model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： 扩散模型机制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算法流程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优势（注意力机制，物理损失）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+Loss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结果 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2.4 Infer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： 物理引导采样说明，从数据集构造理想样本进而</a:t>
            </a:r>
            <a:r>
              <a:rPr lang="en-US" altLang="zh-CN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infer64</a:t>
            </a:r>
            <a:r>
              <a:rPr lang="zh-CN" altLang="en-US" sz="16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个选最优</a:t>
            </a:r>
            <a:endParaRPr lang="zh-CN" altLang="en-US" sz="16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252720" y="1329690"/>
            <a:ext cx="8295640" cy="4388485"/>
          </a:xfrm>
          <a:prstGeom prst="rect">
            <a:avLst/>
          </a:prstGeom>
        </p:spPr>
        <p:txBody>
          <a:bodyPr>
            <a:noAutofit/>
          </a:bodyPr>
          <a:p>
            <a:pPr>
              <a:lnSpc>
                <a:spcPts val="1800"/>
              </a:lnSpc>
            </a:pPr>
            <a:endParaRPr lang="zh-CN" altLang="en-US" sz="9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165600" y="437515"/>
            <a:ext cx="4328160" cy="76200"/>
          </a:xfrm>
        </p:spPr>
        <p:txBody>
          <a:bodyPr>
            <a:normAutofit fontScale="90000"/>
          </a:bodyPr>
          <a:p>
            <a:r>
              <a:rPr lang="zh-CN" altLang="en-US"/>
              <a:t>文章结构</a:t>
            </a:r>
            <a:r>
              <a:rPr lang="zh-CN" altLang="en-US"/>
              <a:t>设计</a:t>
            </a:r>
            <a:endParaRPr lang="zh-CN" altLang="en-US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81851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1596390" y="1123315"/>
            <a:ext cx="8708390" cy="5338445"/>
          </a:xfrm>
          <a:prstGeom prst="rect">
            <a:avLst/>
          </a:prstGeom>
        </p:spPr>
        <p:txBody>
          <a:bodyPr wrap="square">
            <a:noAutofit/>
          </a:bodyPr>
          <a:p>
            <a:pPr indent="0" fontAlgn="auto">
              <a:lnSpc>
                <a:spcPct val="150000"/>
              </a:lnSpc>
            </a:pP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三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Results and Validation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3.1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高效二阶微分超表面：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结构图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光谱图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+2D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角谱图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+1D-t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（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theta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）图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模拟图像处理效果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*2+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指标结果分析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其他波长结果证明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和别的文章的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score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算一下对比一下：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Score=0.988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透过率振幅比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=0.97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工作带宽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=100nm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NA=0.64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3.2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模型对比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+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消融实验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Comparison with baseline methods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代理模型对比（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transformer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显著提高）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数据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scale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实验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cGAN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CVAE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diffusion w/o physics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，拓扑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比较：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Best score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Mean score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，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OTF MAE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3.3 Generalization to other OTF targets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偏振复用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偏振无关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四阶微分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时空微分结果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低通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四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Discussions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（简单写）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为什么生成式方法适合这个问题：高维，一对多，优解稀疏，扩散比直接回归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/GAN/VAE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更稳定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可扩展的应用场景：偏振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频率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-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角度三重设计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五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Conclusion</a:t>
            </a:r>
            <a:endParaRPr lang="en-US" altLang="zh-CN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提出一个面向自由形态二值超表面的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OTF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逆向设计闭环。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在二阶微分主任务上证明其有效、稳定、可制造。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*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说明该框架对更多</a:t>
            </a:r>
            <a:r>
              <a:rPr lang="en-US" altLang="zh-CN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 OTF </a:t>
            </a:r>
            <a:r>
              <a:rPr lang="zh-CN" altLang="en-US" sz="1200" b="0">
                <a:solidFill>
                  <a:srgbClr val="3B3B3B"/>
                </a:solidFill>
                <a:latin typeface="Menlo" panose="020B0609030804020204"/>
                <a:ea typeface="Menlo" panose="020B0609030804020204"/>
              </a:rPr>
              <a:t>工程任务有推广潜力。</a:t>
            </a:r>
            <a:endParaRPr lang="zh-CN" altLang="en-US" sz="1200" b="0">
              <a:solidFill>
                <a:srgbClr val="3B3B3B"/>
              </a:solidFill>
              <a:latin typeface="Menlo" panose="020B0609030804020204"/>
              <a:ea typeface="Menlo" panose="020B0609030804020204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02150" y="443865"/>
            <a:ext cx="3187065" cy="705485"/>
          </a:xfrm>
        </p:spPr>
        <p:txBody>
          <a:bodyPr/>
          <a:p>
            <a:r>
              <a:rPr lang="zh-CN" altLang="en-US"/>
              <a:t>问题</a:t>
            </a:r>
            <a:r>
              <a:rPr lang="en-US" altLang="zh-CN"/>
              <a:t>&amp;</a:t>
            </a:r>
            <a:r>
              <a:rPr lang="zh-CN" altLang="en-US"/>
              <a:t>讨论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2114550"/>
            <a:ext cx="11269345" cy="3475990"/>
          </a:xfrm>
        </p:spPr>
        <p:txBody>
          <a:bodyPr>
            <a:noAutofit/>
          </a:bodyPr>
          <a:p>
            <a:pPr marL="0" indent="0">
              <a:buNone/>
            </a:pPr>
            <a:r>
              <a:rPr lang="en-US" altLang="zh-CN" sz="1700"/>
              <a:t>* </a:t>
            </a:r>
            <a:r>
              <a:rPr lang="zh-CN" altLang="en-US" sz="1700"/>
              <a:t>二阶四阶的曲线理想程度可以接受吗</a:t>
            </a:r>
            <a:r>
              <a:rPr lang="en-US" altLang="zh-CN" sz="1700"/>
              <a:t>？</a:t>
            </a:r>
            <a:r>
              <a:rPr lang="zh-CN" altLang="en-US" sz="1700"/>
              <a:t>要继续调整吗</a:t>
            </a:r>
            <a:r>
              <a:rPr lang="en-US" altLang="zh-CN" sz="1700"/>
              <a:t>？</a:t>
            </a:r>
            <a:endParaRPr lang="en-US" altLang="zh-CN" sz="1700"/>
          </a:p>
        </p:txBody>
      </p:sp>
      <p:cxnSp>
        <p:nvCxnSpPr>
          <p:cNvPr id="5" name="直接连接符 4"/>
          <p:cNvCxnSpPr/>
          <p:nvPr/>
        </p:nvCxnSpPr>
        <p:spPr>
          <a:xfrm>
            <a:off x="608330" y="1329055"/>
            <a:ext cx="10480040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2795</Words>
  <Application>WPS 演示</Application>
  <PresentationFormat>宽屏</PresentationFormat>
  <Paragraphs>213</Paragraphs>
  <Slides>34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34</vt:i4>
      </vt:variant>
    </vt:vector>
  </HeadingPairs>
  <TitlesOfParts>
    <vt:vector size="52" baseType="lpstr">
      <vt:lpstr>Arial</vt:lpstr>
      <vt:lpstr>宋体</vt:lpstr>
      <vt:lpstr>Wingdings</vt:lpstr>
      <vt:lpstr>Wingdings</vt:lpstr>
      <vt:lpstr>PingFang SC Semibold</vt:lpstr>
      <vt:lpstr>Arial</vt:lpstr>
      <vt:lpstr>ui-sans-serif</vt:lpstr>
      <vt:lpstr>Thonburi</vt:lpstr>
      <vt:lpstr>汉仪书宋二KW</vt:lpstr>
      <vt:lpstr>苹方-简</vt:lpstr>
      <vt:lpstr>微软雅黑</vt:lpstr>
      <vt:lpstr>汉仪旗黑</vt:lpstr>
      <vt:lpstr>宋体</vt:lpstr>
      <vt:lpstr>Arial Unicode MS</vt:lpstr>
      <vt:lpstr>ui-sans-serif</vt:lpstr>
      <vt:lpstr>Menlo</vt:lpstr>
      <vt:lpstr>KaTeX_Main</vt:lpstr>
      <vt:lpstr>WPS</vt:lpstr>
      <vt:lpstr>扩散模型辅助二阶微分超表面逆向设计</vt:lpstr>
      <vt:lpstr>                 总体设计流程框架</vt:lpstr>
      <vt:lpstr>             自由形态超表面结构生成</vt:lpstr>
      <vt:lpstr>             自由形态超表面结构生成</vt:lpstr>
      <vt:lpstr>             自由形态超表面结构生成</vt:lpstr>
      <vt:lpstr>     RCWA光谱仿真计算</vt:lpstr>
      <vt:lpstr>      RCWA光谱仿真计算数据集分析</vt:lpstr>
      <vt:lpstr>      RCWA光谱仿真计算数据集分析</vt:lpstr>
      <vt:lpstr>      RCWA光谱仿真计算数据集分析</vt:lpstr>
      <vt:lpstr>                 前向代理模型架构</vt:lpstr>
      <vt:lpstr>             前向代理模型训练误差曲线</vt:lpstr>
      <vt:lpstr>      扩散模型训练算法流程</vt:lpstr>
      <vt:lpstr>      扩散模型U-Net模型架构</vt:lpstr>
      <vt:lpstr>         扩散模型训练参数设置</vt:lpstr>
      <vt:lpstr>             扩散模型训练</vt:lpstr>
      <vt:lpstr>           扩散模型推理采样</vt:lpstr>
      <vt:lpstr>         扩散模型推理采样结果</vt:lpstr>
      <vt:lpstr>数据增强尝试</vt:lpstr>
      <vt:lpstr>数据增强尝试</vt:lpstr>
      <vt:lpstr>模型效果对比</vt:lpstr>
      <vt:lpstr>模型效果对比</vt:lpstr>
      <vt:lpstr>模型效果对比</vt:lpstr>
      <vt:lpstr>偏振无关二阶微分</vt:lpstr>
      <vt:lpstr>偏振无关二阶微分</vt:lpstr>
      <vt:lpstr>偏振无关二阶微分</vt:lpstr>
      <vt:lpstr>偏振复用二阶微分</vt:lpstr>
      <vt:lpstr>低通滤波超表面</vt:lpstr>
      <vt:lpstr>偏振复用二阶微分</vt:lpstr>
      <vt:lpstr>低通滤波超表面</vt:lpstr>
      <vt:lpstr>低通滤波超表面</vt:lpstr>
      <vt:lpstr>二阶时空微分超表面</vt:lpstr>
      <vt:lpstr>二阶时空微分超表面</vt:lpstr>
      <vt:lpstr>文章结构设计</vt:lpstr>
      <vt:lpstr>问题&amp;讨论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lishengxin</cp:lastModifiedBy>
  <cp:revision>204</cp:revision>
  <dcterms:created xsi:type="dcterms:W3CDTF">2026-04-05T10:14:46Z</dcterms:created>
  <dcterms:modified xsi:type="dcterms:W3CDTF">2026-04-05T10:14:46Z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>E413ED74C9861CBA2654B669579FFE9E_41</vt:lpwstr>
  </property>
</Properties>
</file>