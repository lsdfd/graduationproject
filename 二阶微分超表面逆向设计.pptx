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3"/>
    <p:sldId id="257" r:id="rId4"/>
    <p:sldId id="281" r:id="rId5"/>
    <p:sldId id="277" r:id="rId6"/>
    <p:sldId id="275" r:id="rId7"/>
    <p:sldId id="260" r:id="rId8"/>
    <p:sldId id="278" r:id="rId9"/>
    <p:sldId id="261" r:id="rId10"/>
    <p:sldId id="276" r:id="rId11"/>
    <p:sldId id="262" r:id="rId12"/>
    <p:sldId id="268" r:id="rId13"/>
    <p:sldId id="263" r:id="rId14"/>
    <p:sldId id="271" r:id="rId15"/>
    <p:sldId id="280" r:id="rId16"/>
    <p:sldId id="272" r:id="rId17"/>
    <p:sldId id="273" r:id="rId18"/>
    <p:sldId id="274" r:id="rId19"/>
    <p:sldId id="279" r:id="rId20"/>
    <p:sldId id="259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1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2.png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3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7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5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7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image" Target="../media/image9.png"/><Relationship Id="rId1" Type="http://schemas.openxmlformats.org/officeDocument/2006/relationships/tags" Target="../tags/tag7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9.xml"/><Relationship Id="rId2" Type="http://schemas.openxmlformats.org/officeDocument/2006/relationships/image" Target="../media/image10.png"/><Relationship Id="rId1" Type="http://schemas.openxmlformats.org/officeDocument/2006/relationships/tags" Target="../tags/tag78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8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image" Target="../media/image14.png"/><Relationship Id="rId1" Type="http://schemas.openxmlformats.org/officeDocument/2006/relationships/tags" Target="../tags/tag8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5.xml"/><Relationship Id="rId2" Type="http://schemas.openxmlformats.org/officeDocument/2006/relationships/image" Target="../media/image15.png"/><Relationship Id="rId1" Type="http://schemas.openxmlformats.org/officeDocument/2006/relationships/tags" Target="../tags/tag8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image" Target="../media/image16.png"/><Relationship Id="rId1" Type="http://schemas.openxmlformats.org/officeDocument/2006/relationships/tags" Target="../tags/tag8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image" Target="../media/image17.png"/><Relationship Id="rId1" Type="http://schemas.openxmlformats.org/officeDocument/2006/relationships/tags" Target="../tags/tag88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1.xml"/><Relationship Id="rId2" Type="http://schemas.openxmlformats.org/officeDocument/2006/relationships/image" Target="../media/image18.png"/><Relationship Id="rId1" Type="http://schemas.openxmlformats.org/officeDocument/2006/relationships/tags" Target="../tags/tag90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3.xml"/><Relationship Id="rId2" Type="http://schemas.openxmlformats.org/officeDocument/2006/relationships/image" Target="../media/image19.png"/><Relationship Id="rId1" Type="http://schemas.openxmlformats.org/officeDocument/2006/relationships/tags" Target="../tags/tag9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image" Target="../media/image20.png"/><Relationship Id="rId1" Type="http://schemas.openxmlformats.org/officeDocument/2006/relationships/tags" Target="../tags/tag94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9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tags" Target="../tags/tag96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9.xml"/><Relationship Id="rId2" Type="http://schemas.openxmlformats.org/officeDocument/2006/relationships/image" Target="../media/image25.png"/><Relationship Id="rId1" Type="http://schemas.openxmlformats.org/officeDocument/2006/relationships/tags" Target="../tags/tag98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935355" y="2243455"/>
            <a:ext cx="10636250" cy="953135"/>
          </a:xfrm>
        </p:spPr>
        <p:txBody>
          <a:bodyPr/>
          <a:p>
            <a:r>
              <a:rPr lang="zh-CN" altLang="zh-CN" sz="4400"/>
              <a:t>扩散模型</a:t>
            </a:r>
            <a:r>
              <a:rPr lang="zh-CN" altLang="zh-CN" sz="4400"/>
              <a:t>辅助二阶微分超表面逆向设计</a:t>
            </a:r>
            <a:endParaRPr lang="zh-CN" altLang="zh-CN" sz="44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3290570" y="4511675"/>
            <a:ext cx="4697730" cy="579120"/>
          </a:xfrm>
        </p:spPr>
        <p:txBody>
          <a:bodyPr>
            <a:noAutofit/>
          </a:bodyPr>
          <a:p>
            <a:r>
              <a:rPr lang="zh-CN" altLang="en-US" sz="20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李升欣</a:t>
            </a:r>
            <a:endParaRPr lang="zh-CN" altLang="en-US" sz="20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3.21</a:t>
            </a:r>
            <a:endParaRPr lang="en-US" altLang="zh-CN" sz="20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827405" y="3677920"/>
            <a:ext cx="1048004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3925" y="231210"/>
            <a:ext cx="10969200" cy="705600"/>
          </a:xfrm>
        </p:spPr>
        <p:txBody>
          <a:bodyPr>
            <a:normAutofit/>
          </a:bodyPr>
          <a:p>
            <a:pPr algn="l"/>
            <a:r>
              <a:rPr lang="en-US" altLang="zh-CN"/>
              <a:t>                 </a:t>
            </a:r>
            <a:r>
              <a:rPr lang="zh-CN" altLang="en-US"/>
              <a:t>总体设计流程</a:t>
            </a:r>
            <a:r>
              <a:rPr lang="zh-CN" altLang="en-US"/>
              <a:t>框架</a:t>
            </a:r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608330" y="936625"/>
            <a:ext cx="1048004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95" y="1158875"/>
            <a:ext cx="9881870" cy="55975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3925" y="442665"/>
            <a:ext cx="10969200" cy="705600"/>
          </a:xfrm>
        </p:spPr>
        <p:txBody>
          <a:bodyPr>
            <a:normAutofit/>
          </a:bodyPr>
          <a:p>
            <a:pPr algn="l"/>
            <a:r>
              <a:rPr lang="en-US" altLang="zh-CN"/>
              <a:t>             </a:t>
            </a:r>
            <a:r>
              <a:rPr lang="zh-CN" altLang="en-US"/>
              <a:t>自由形态超表面</a:t>
            </a:r>
            <a:r>
              <a:rPr lang="zh-CN" altLang="en-US"/>
              <a:t>结构生成</a:t>
            </a:r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608330" y="1329055"/>
            <a:ext cx="1048004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800735" y="5882640"/>
            <a:ext cx="11254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自由形态结构生成算法框架图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：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高斯滤波保证最小可制造尺寸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，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对称性保证二阶微分近似各向同性</a:t>
            </a:r>
            <a:endParaRPr lang="zh-CN" altLang="en-US" sz="2000" b="1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205" y="1542415"/>
            <a:ext cx="9892030" cy="43402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442665"/>
            <a:ext cx="10969200" cy="705600"/>
          </a:xfrm>
        </p:spPr>
        <p:txBody>
          <a:bodyPr>
            <a:normAutofit/>
          </a:bodyPr>
          <a:p>
            <a:pPr algn="l"/>
            <a:r>
              <a:rPr lang="en-US" altLang="zh-CN"/>
              <a:t>             </a:t>
            </a:r>
            <a:r>
              <a:rPr lang="zh-CN" altLang="en-US"/>
              <a:t>自由形态超表面</a:t>
            </a:r>
            <a:r>
              <a:rPr lang="zh-CN" altLang="en-US"/>
              <a:t>结构生成</a:t>
            </a:r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608330" y="1329055"/>
            <a:ext cx="1048004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870835" y="6031230"/>
            <a:ext cx="71901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数据集参数随机采样</a:t>
            </a:r>
            <a:r>
              <a:rPr lang="en-US" altLang="zh-CN" sz="24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：</a:t>
            </a:r>
            <a:r>
              <a:rPr lang="zh-CN" altLang="en-US" sz="24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保证数据集结构多样性</a:t>
            </a:r>
            <a:endParaRPr lang="zh-CN" altLang="en-US" sz="2400" b="1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1831975" y="1762125"/>
          <a:ext cx="8338185" cy="3965575"/>
        </p:xfrm>
        <a:graphic>
          <a:graphicData uri="http://schemas.openxmlformats.org/drawingml/2006/table">
            <a:tbl>
              <a:tblPr/>
              <a:tblGrid>
                <a:gridCol w="2404110"/>
                <a:gridCol w="3549650"/>
                <a:gridCol w="2384425"/>
              </a:tblGrid>
              <a:tr h="344805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</a:rPr>
                        <a:t>参数</a:t>
                      </a:r>
                      <a:endParaRPr lang="zh-CN" altLang="en-US" sz="1100" b="1" i="0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73AB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</a:rPr>
                        <a:t>采样 </a:t>
                      </a:r>
                      <a:r>
                        <a:rPr lang="en-US" altLang="zh-CN" sz="1100" b="1" i="0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</a:rPr>
                        <a:t>/ </a:t>
                      </a:r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</a:rPr>
                        <a:t>取值</a:t>
                      </a:r>
                      <a:endParaRPr lang="zh-CN" altLang="en-US" sz="1100" b="1" i="0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73AB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FFFFFF"/>
                          </a:solidFill>
                          <a:latin typeface="Arial" panose="020B0604020202090204"/>
                          <a:ea typeface="Arial" panose="020B0604020202090204"/>
                        </a:rPr>
                        <a:t>作用</a:t>
                      </a:r>
                      <a:endParaRPr lang="zh-CN" altLang="en-US" sz="1100" b="1" i="0">
                        <a:solidFill>
                          <a:srgbClr val="FFFFFF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73AB"/>
                    </a:solidFill>
                  </a:tcPr>
                </a:tc>
              </a:tr>
              <a:tr h="516890">
                <a:tc>
                  <a:txBody>
                    <a:bodyPr/>
                    <a:p>
                      <a:pPr algn="l" fontAlgn="ctr"/>
                      <a:r>
                        <a:rPr lang="en-US" altLang="zh-CN" sz="1100" b="1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  TARGET_FILL</a:t>
                      </a:r>
                      <a:endParaRPr lang="en-US" altLang="zh-CN" sz="1100" b="1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0.4 / 0.5 / 0.6 / 0.7 / 0.8</a:t>
                      </a:r>
                      <a:br>
                        <a:rPr lang="en-US" altLang="zh-CN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</a:br>
                      <a:r>
                        <a:rPr lang="zh-CN" altLang="en-US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尽量均分后打乱</a:t>
                      </a:r>
                      <a:endParaRPr lang="zh-CN" altLang="en-US" sz="1100" b="0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控制整体疏密</a:t>
                      </a:r>
                      <a:endParaRPr lang="zh-CN" altLang="en-US" sz="1100" b="0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algn="l" fontAlgn="ctr"/>
                      <a:r>
                        <a:rPr lang="en-US" altLang="zh-CN" sz="1100" b="1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  N_COARSE</a:t>
                      </a:r>
                      <a:endParaRPr lang="en-US" altLang="zh-CN" sz="1100" b="1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8 / 10 / 12</a:t>
                      </a:r>
                      <a:br>
                        <a:rPr lang="en-US" altLang="zh-CN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</a:br>
                      <a:r>
                        <a:rPr lang="en-US" altLang="zh-CN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p = 0.40 / 0.35 / 0.25</a:t>
                      </a:r>
                      <a:endParaRPr lang="en-US" altLang="zh-CN" sz="1100" b="0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控制初始粗细尺度</a:t>
                      </a:r>
                      <a:endParaRPr lang="zh-CN" altLang="en-US" sz="1100" b="0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516890">
                <a:tc>
                  <a:txBody>
                    <a:bodyPr/>
                    <a:p>
                      <a:pPr algn="l" fontAlgn="ctr"/>
                      <a:r>
                        <a:rPr lang="en-US" altLang="zh-CN" sz="1100" b="1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  SIGMA1</a:t>
                      </a:r>
                      <a:endParaRPr lang="en-US" altLang="zh-CN" sz="1100" b="1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Uniform[1.70, 2.15]</a:t>
                      </a:r>
                      <a:endParaRPr lang="en-US" altLang="zh-CN" sz="1100" b="0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第一次平滑强度</a:t>
                      </a:r>
                      <a:endParaRPr lang="zh-CN" altLang="en-US" sz="1100" b="0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7525">
                <a:tc>
                  <a:txBody>
                    <a:bodyPr/>
                    <a:p>
                      <a:pPr algn="l" fontAlgn="ctr"/>
                      <a:r>
                        <a:rPr lang="en-US" altLang="zh-CN" sz="1100" b="1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  SIGMA2</a:t>
                      </a:r>
                      <a:endParaRPr lang="en-US" altLang="zh-CN" sz="1100" b="1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Uniform[1.00, 1.30]</a:t>
                      </a:r>
                      <a:endParaRPr lang="en-US" altLang="zh-CN" sz="1100" b="0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第二次平滑强度</a:t>
                      </a:r>
                      <a:endParaRPr lang="zh-CN" altLang="en-US" sz="1100" b="0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516890">
                <a:tc>
                  <a:txBody>
                    <a:bodyPr/>
                    <a:p>
                      <a:pPr algn="l" fontAlgn="ctr"/>
                      <a:r>
                        <a:rPr lang="en-US" altLang="zh-CN" sz="1100" b="1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  MIN_FEATURE_PX</a:t>
                      </a:r>
                      <a:endParaRPr lang="en-US" altLang="zh-CN" sz="1100" b="1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5 / 6 / 7 / 8</a:t>
                      </a:r>
                      <a:br>
                        <a:rPr lang="en-US" altLang="zh-CN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</a:br>
                      <a:r>
                        <a:rPr lang="en-US" altLang="zh-CN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p = 0.18 / 0.24 / 0.34 / 0.24</a:t>
                      </a:r>
                      <a:endParaRPr lang="en-US" altLang="zh-CN" sz="1100" b="0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控制最小特征尺寸</a:t>
                      </a:r>
                      <a:endParaRPr lang="zh-CN" altLang="en-US" sz="1100" b="0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7525">
                <a:tc>
                  <a:txBody>
                    <a:bodyPr/>
                    <a:p>
                      <a:pPr algn="l" fontAlgn="ctr"/>
                      <a:r>
                        <a:rPr lang="en-US" altLang="zh-CN" sz="1100" b="1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  N_FINE</a:t>
                      </a:r>
                      <a:endParaRPr lang="en-US" altLang="zh-CN" sz="1100" b="1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固定 </a:t>
                      </a:r>
                      <a:r>
                        <a:rPr lang="en-US" altLang="zh-CN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64</a:t>
                      </a:r>
                      <a:endParaRPr lang="en-US" altLang="zh-CN" sz="1100" b="0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输出分辨率 </a:t>
                      </a:r>
                      <a:r>
                        <a:rPr lang="en-US" altLang="zh-CN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64×64</a:t>
                      </a:r>
                      <a:endParaRPr lang="en-US" altLang="zh-CN" sz="1100" b="0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516890">
                <a:tc>
                  <a:txBody>
                    <a:bodyPr/>
                    <a:p>
                      <a:pPr algn="l" fontAlgn="ctr"/>
                      <a:r>
                        <a:rPr lang="en-US" altLang="zh-CN" sz="1100" b="1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  num_samples</a:t>
                      </a:r>
                      <a:endParaRPr lang="en-US" altLang="zh-CN" sz="1100" b="1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 </a:t>
                      </a:r>
                      <a:r>
                        <a:rPr lang="en-US" altLang="zh-CN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5000-&gt;8000(</a:t>
                      </a:r>
                      <a:r>
                        <a:rPr lang="zh-CN" altLang="en-US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数据增强</a:t>
                      </a:r>
                      <a:r>
                        <a:rPr lang="en-US" altLang="zh-CN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)</a:t>
                      </a:r>
                      <a:endParaRPr lang="en-US" altLang="zh-CN" sz="1100" b="0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323A47"/>
                          </a:solidFill>
                          <a:latin typeface="Arial" panose="020B0604020202090204"/>
                          <a:ea typeface="Arial" panose="020B0604020202090204"/>
                        </a:rPr>
                        <a:t>决定样本总数</a:t>
                      </a:r>
                      <a:endParaRPr lang="zh-CN" altLang="en-US" sz="1100" b="0" i="0">
                        <a:solidFill>
                          <a:srgbClr val="323A47"/>
                        </a:solidFill>
                        <a:latin typeface="Arial" panose="020B0604020202090204"/>
                        <a:ea typeface="Arial" panose="020B0604020202090204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 w="6350" cap="flat" cmpd="sng">
                      <a:solidFill>
                        <a:srgbClr val="95B3D7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6EAF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3925" y="442665"/>
            <a:ext cx="10969200" cy="705600"/>
          </a:xfrm>
        </p:spPr>
        <p:txBody>
          <a:bodyPr>
            <a:normAutofit/>
          </a:bodyPr>
          <a:p>
            <a:pPr algn="l"/>
            <a:r>
              <a:rPr lang="en-US" altLang="zh-CN"/>
              <a:t>             </a:t>
            </a:r>
            <a:r>
              <a:rPr lang="zh-CN" altLang="en-US"/>
              <a:t>自由形态超表面</a:t>
            </a:r>
            <a:r>
              <a:rPr lang="zh-CN" altLang="en-US"/>
              <a:t>结构生成</a:t>
            </a:r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608330" y="1329055"/>
            <a:ext cx="1048004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98780" y="6064250"/>
            <a:ext cx="114788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自由形态结构数据集示意图部分展示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：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生成了满足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C4+sigmax+sigmay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对称性的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5000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个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64*64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结构</a:t>
            </a:r>
            <a:endParaRPr lang="zh-CN" altLang="en-US" sz="2000" b="1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80" y="1945640"/>
            <a:ext cx="3380740" cy="35985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100" y="1945640"/>
            <a:ext cx="3757295" cy="37033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3975" y="1967865"/>
            <a:ext cx="3809365" cy="359854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623185" y="374650"/>
            <a:ext cx="6859270" cy="705485"/>
          </a:xfrm>
        </p:spPr>
        <p:txBody>
          <a:bodyPr>
            <a:normAutofit/>
          </a:bodyPr>
          <a:p>
            <a:pPr algn="l"/>
            <a:r>
              <a:rPr lang="en-US" altLang="zh-CN"/>
              <a:t>     RCWA</a:t>
            </a:r>
            <a:r>
              <a:rPr lang="zh-CN" altLang="en-US"/>
              <a:t>光谱</a:t>
            </a:r>
            <a:r>
              <a:rPr lang="zh-CN" altLang="en-US"/>
              <a:t>仿真计算</a:t>
            </a:r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608330" y="1329055"/>
            <a:ext cx="1048004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072630" y="6176010"/>
            <a:ext cx="2885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数据集仿真结果示意图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3865" y="1602740"/>
            <a:ext cx="5982335" cy="43300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805" y="1577975"/>
            <a:ext cx="3828415" cy="22472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175" y="3922395"/>
            <a:ext cx="4024630" cy="245999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261745" y="318135"/>
            <a:ext cx="8596630" cy="705485"/>
          </a:xfrm>
        </p:spPr>
        <p:txBody>
          <a:bodyPr>
            <a:normAutofit/>
          </a:bodyPr>
          <a:p>
            <a:pPr algn="l"/>
            <a:r>
              <a:rPr lang="en-US" altLang="zh-CN"/>
              <a:t>      </a:t>
            </a:r>
            <a:r>
              <a:rPr lang="en-US" altLang="zh-CN">
                <a:sym typeface="+mn-ea"/>
              </a:rPr>
              <a:t>RCWA</a:t>
            </a:r>
            <a:r>
              <a:rPr lang="zh-CN" altLang="en-US">
                <a:sym typeface="+mn-ea"/>
              </a:rPr>
              <a:t>光谱仿真计算数据集</a:t>
            </a:r>
            <a:r>
              <a:rPr lang="zh-CN" altLang="en-US">
                <a:sym typeface="+mn-ea"/>
              </a:rPr>
              <a:t>分析</a:t>
            </a:r>
            <a:endParaRPr lang="zh-CN" altLang="en-US"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49300" y="1176020"/>
            <a:ext cx="1048004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951355" y="5995670"/>
            <a:ext cx="8076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Score</a:t>
            </a:r>
            <a:r>
              <a:rPr lang="zh-CN" altLang="en-US" sz="24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打分函数</a:t>
            </a:r>
            <a:r>
              <a:rPr lang="en-US" altLang="zh-CN" sz="24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：</a:t>
            </a:r>
            <a:r>
              <a:rPr lang="zh-CN" altLang="en-US" sz="24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衡量超表面在某个波长上的二阶微分性能</a:t>
            </a:r>
            <a:endParaRPr lang="en-US" altLang="zh-CN" sz="2400" b="1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375" y="1682115"/>
            <a:ext cx="8297545" cy="4064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520825" y="318135"/>
            <a:ext cx="8596630" cy="705485"/>
          </a:xfrm>
        </p:spPr>
        <p:txBody>
          <a:bodyPr>
            <a:normAutofit/>
          </a:bodyPr>
          <a:p>
            <a:pPr algn="l"/>
            <a:r>
              <a:rPr lang="en-US" altLang="zh-CN"/>
              <a:t>      </a:t>
            </a:r>
            <a:r>
              <a:rPr lang="en-US" altLang="zh-CN">
                <a:sym typeface="+mn-ea"/>
              </a:rPr>
              <a:t>RCWA</a:t>
            </a:r>
            <a:r>
              <a:rPr lang="zh-CN" altLang="en-US">
                <a:sym typeface="+mn-ea"/>
              </a:rPr>
              <a:t>光谱仿真计算数据集</a:t>
            </a:r>
            <a:r>
              <a:rPr lang="zh-CN" altLang="en-US">
                <a:sym typeface="+mn-ea"/>
              </a:rPr>
              <a:t>分析</a:t>
            </a:r>
            <a:endParaRPr lang="zh-CN" altLang="en-US"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8330" y="1329055"/>
            <a:ext cx="1048004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2226945" y="6229350"/>
            <a:ext cx="8488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数据集中各波长中分数</a:t>
            </a:r>
            <a:r>
              <a:rPr lang="en-US" altLang="zh-CN" sz="24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Score</a:t>
            </a:r>
            <a:r>
              <a:rPr lang="zh-CN" altLang="en-US" sz="24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最高的结构的</a:t>
            </a:r>
            <a:r>
              <a:rPr lang="en-US" altLang="zh-CN" sz="24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t（theta）</a:t>
            </a:r>
            <a:r>
              <a:rPr lang="zh-CN" altLang="en-US" sz="24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响应图</a:t>
            </a:r>
            <a:endParaRPr lang="zh-CN" altLang="en-US" sz="2400" b="1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pic>
        <p:nvPicPr>
          <p:cNvPr id="8" name="图片 7" descr="af678f13fababb63465bec19607f6c6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750" y="1579245"/>
            <a:ext cx="7936865" cy="43287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520825" y="318135"/>
            <a:ext cx="8596630" cy="705485"/>
          </a:xfrm>
        </p:spPr>
        <p:txBody>
          <a:bodyPr>
            <a:normAutofit/>
          </a:bodyPr>
          <a:p>
            <a:pPr algn="l"/>
            <a:r>
              <a:rPr lang="en-US" altLang="zh-CN"/>
              <a:t>      </a:t>
            </a:r>
            <a:r>
              <a:rPr lang="en-US" altLang="zh-CN">
                <a:sym typeface="+mn-ea"/>
              </a:rPr>
              <a:t>RCWA</a:t>
            </a:r>
            <a:r>
              <a:rPr lang="zh-CN" altLang="en-US">
                <a:sym typeface="+mn-ea"/>
              </a:rPr>
              <a:t>光谱仿真计算数据集</a:t>
            </a:r>
            <a:r>
              <a:rPr lang="zh-CN" altLang="en-US">
                <a:sym typeface="+mn-ea"/>
              </a:rPr>
              <a:t>分析</a:t>
            </a:r>
            <a:endParaRPr lang="zh-CN" altLang="en-US"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8330" y="1158240"/>
            <a:ext cx="1048004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933700" y="5756275"/>
            <a:ext cx="1239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1000</a:t>
            </a:r>
            <a:r>
              <a:rPr lang="en-US" altLang="zh-CN"/>
              <a:t>nm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7945120" y="5713095"/>
            <a:ext cx="1239520" cy="399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900</a:t>
            </a:r>
            <a:r>
              <a:rPr lang="en-US" altLang="zh-CN"/>
              <a:t>nm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1002665" y="6218555"/>
            <a:ext cx="102920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可以看出数据集近似包含了理想二阶微分结构的参数空间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，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保证了模型训练的学习效果</a:t>
            </a:r>
            <a:endParaRPr lang="zh-CN" altLang="en-US" sz="2000" b="1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6072188" y="3414713"/>
            <a:ext cx="9525" cy="9525"/>
          </a:xfrm>
          <a:prstGeom prst="rect">
            <a:avLst/>
          </a:prstGeom>
        </p:spPr>
      </p:pic>
      <p:pic>
        <p:nvPicPr>
          <p:cNvPr id="12" name="图片 11" descr="c3acb63a-a0ad-45ce-8d51-5a67ab2fc2b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930" y="1760220"/>
            <a:ext cx="3914775" cy="3856355"/>
          </a:xfrm>
          <a:prstGeom prst="rect">
            <a:avLst/>
          </a:prstGeom>
        </p:spPr>
      </p:pic>
      <p:pic>
        <p:nvPicPr>
          <p:cNvPr id="13" name="图片 12" descr="5c5775a0e23888285561d32759f37e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385" y="1683385"/>
            <a:ext cx="4364990" cy="38747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844925" y="1275080"/>
            <a:ext cx="4502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C00000"/>
                </a:solidFill>
              </a:rPr>
              <a:t>score&gt;0.5</a:t>
            </a:r>
            <a:r>
              <a:rPr lang="zh-CN" altLang="en-US">
                <a:solidFill>
                  <a:srgbClr val="C00000"/>
                </a:solidFill>
              </a:rPr>
              <a:t>的结果数据比例大约为</a:t>
            </a:r>
            <a:r>
              <a:rPr lang="en-US" altLang="zh-CN">
                <a:solidFill>
                  <a:srgbClr val="C00000"/>
                </a:solidFill>
              </a:rPr>
              <a:t>4%</a:t>
            </a:r>
            <a:endParaRPr lang="en-US" altLang="zh-CN">
              <a:solidFill>
                <a:srgbClr val="C00000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15645" y="254635"/>
            <a:ext cx="10480040" cy="705485"/>
          </a:xfrm>
        </p:spPr>
        <p:txBody>
          <a:bodyPr>
            <a:normAutofit/>
          </a:bodyPr>
          <a:p>
            <a:pPr algn="l"/>
            <a:r>
              <a:rPr lang="en-US" altLang="zh-CN"/>
              <a:t>                 </a:t>
            </a:r>
            <a:r>
              <a:rPr lang="zh-CN" altLang="en-US"/>
              <a:t>前向代理模型</a:t>
            </a:r>
            <a:r>
              <a:rPr lang="zh-CN" altLang="en-US"/>
              <a:t>架构</a:t>
            </a:r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608330" y="1144905"/>
            <a:ext cx="1048004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565" y="1329690"/>
            <a:ext cx="8992235" cy="46247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913380" y="6139180"/>
            <a:ext cx="67881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CNN Encoder+MLP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的结构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-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光谱前向代理预测模型架构</a:t>
            </a:r>
            <a:endParaRPr lang="zh-CN" altLang="en-US" sz="2000" b="1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3925" y="166440"/>
            <a:ext cx="10969200" cy="705600"/>
          </a:xfrm>
        </p:spPr>
        <p:txBody>
          <a:bodyPr>
            <a:normAutofit/>
          </a:bodyPr>
          <a:p>
            <a:pPr algn="l"/>
            <a:r>
              <a:rPr lang="en-US" altLang="zh-CN"/>
              <a:t>             </a:t>
            </a:r>
            <a:r>
              <a:rPr lang="zh-CN" altLang="en-US"/>
              <a:t>前向代理模型训练误差</a:t>
            </a:r>
            <a:r>
              <a:rPr lang="zh-CN" altLang="en-US"/>
              <a:t>曲线</a:t>
            </a:r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608330" y="950595"/>
            <a:ext cx="1048004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图片 6" descr="40adc467e4e75673f13e1173febabe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240" y="1171575"/>
            <a:ext cx="7378700" cy="49193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25320" y="6090920"/>
            <a:ext cx="8887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OTF</a:t>
            </a:r>
            <a:r>
              <a:rPr lang="zh-CN" altLang="en-US" sz="24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光谱平均</a:t>
            </a:r>
            <a:r>
              <a:rPr lang="en-US" altLang="zh-CN" sz="24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MAE</a:t>
            </a:r>
            <a:r>
              <a:rPr lang="zh-CN" altLang="en-US" sz="24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误差约为</a:t>
            </a:r>
            <a:r>
              <a:rPr lang="en-US" altLang="zh-CN" sz="24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0.095，</a:t>
            </a:r>
            <a:r>
              <a:rPr lang="zh-CN" altLang="en-US" sz="24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训练有轻微一定拟合迹象</a:t>
            </a:r>
            <a:endParaRPr lang="zh-CN" altLang="en-US" sz="2400" b="1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183130" y="133350"/>
            <a:ext cx="7642225" cy="705485"/>
          </a:xfrm>
        </p:spPr>
        <p:txBody>
          <a:bodyPr>
            <a:normAutofit/>
          </a:bodyPr>
          <a:p>
            <a:pPr algn="l"/>
            <a:r>
              <a:rPr lang="en-US" altLang="zh-CN"/>
              <a:t>      </a:t>
            </a:r>
            <a:r>
              <a:rPr lang="zh-CN" altLang="en-US"/>
              <a:t>扩散模型训练</a:t>
            </a:r>
            <a:r>
              <a:rPr lang="zh-CN" altLang="en-US"/>
              <a:t>算法流程</a:t>
            </a:r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608330" y="858520"/>
            <a:ext cx="1048004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985" y="1078865"/>
            <a:ext cx="8184515" cy="50088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440940" y="6308090"/>
            <a:ext cx="776224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i="0">
                <a:solidFill>
                  <a:srgbClr val="C00000"/>
                </a:solidFill>
                <a:latin typeface="ui-sans-serif"/>
                <a:ea typeface="ui-sans-serif"/>
              </a:rPr>
              <a:t>基于 </a:t>
            </a:r>
            <a:r>
              <a:rPr lang="en-US" altLang="zh-CN" sz="2000" b="1" i="0">
                <a:solidFill>
                  <a:srgbClr val="C00000"/>
                </a:solidFill>
                <a:latin typeface="ui-sans-serif"/>
                <a:ea typeface="ui-sans-serif"/>
              </a:rPr>
              <a:t>DDPM </a:t>
            </a:r>
            <a:r>
              <a:rPr lang="zh-CN" altLang="en-US" sz="2000" b="1" i="0">
                <a:solidFill>
                  <a:srgbClr val="C00000"/>
                </a:solidFill>
                <a:latin typeface="ui-sans-serif"/>
                <a:ea typeface="ui-sans-serif"/>
              </a:rPr>
              <a:t>思想的融合物理损失的条件控制扩散模型训练框架</a:t>
            </a:r>
            <a:endParaRPr lang="zh-CN" altLang="en-US" sz="2000" b="1" i="0">
              <a:solidFill>
                <a:srgbClr val="C00000"/>
              </a:solidFill>
              <a:latin typeface="ui-sans-serif"/>
              <a:ea typeface="ui-sans-serif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321560" y="271145"/>
            <a:ext cx="7165340" cy="705485"/>
          </a:xfrm>
        </p:spPr>
        <p:txBody>
          <a:bodyPr>
            <a:normAutofit/>
          </a:bodyPr>
          <a:p>
            <a:pPr algn="l"/>
            <a:r>
              <a:rPr lang="en-US" altLang="zh-CN"/>
              <a:t>      </a:t>
            </a:r>
            <a:r>
              <a:rPr lang="zh-CN" altLang="en-US"/>
              <a:t>扩散模型</a:t>
            </a:r>
            <a:r>
              <a:rPr lang="en-US" altLang="zh-CN"/>
              <a:t>U-Net</a:t>
            </a:r>
            <a:r>
              <a:rPr lang="zh-CN" altLang="en-US"/>
              <a:t>模型</a:t>
            </a:r>
            <a:r>
              <a:rPr lang="zh-CN" altLang="en-US"/>
              <a:t>架构</a:t>
            </a:r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608330" y="976630"/>
            <a:ext cx="1048004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e1a1e5b8cf947fe8550a0fb5a3ecc0d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975" y="1143000"/>
            <a:ext cx="7527925" cy="48590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44625" y="6002020"/>
            <a:ext cx="93027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光谱条件经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Transformer 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编码为全局向量与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187 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个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token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，分别通过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AdaGN 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和交叉注意力双路注入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UNet</a:t>
            </a:r>
            <a:endParaRPr lang="en-US" altLang="zh-CN" sz="2000" b="1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844675" y="372110"/>
            <a:ext cx="7642225" cy="705485"/>
          </a:xfrm>
        </p:spPr>
        <p:txBody>
          <a:bodyPr>
            <a:normAutofit/>
          </a:bodyPr>
          <a:p>
            <a:pPr algn="l"/>
            <a:r>
              <a:rPr lang="en-US" altLang="zh-CN"/>
              <a:t>         </a:t>
            </a:r>
            <a:r>
              <a:rPr lang="zh-CN" altLang="en-US"/>
              <a:t>扩散模型训练参数</a:t>
            </a:r>
            <a:r>
              <a:rPr lang="zh-CN" altLang="en-US"/>
              <a:t>设置</a:t>
            </a:r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608330" y="1203325"/>
            <a:ext cx="1048004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415" y="1458595"/>
            <a:ext cx="8026400" cy="51562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844675" y="372110"/>
            <a:ext cx="7642225" cy="705485"/>
          </a:xfrm>
        </p:spPr>
        <p:txBody>
          <a:bodyPr>
            <a:normAutofit/>
          </a:bodyPr>
          <a:p>
            <a:pPr algn="l"/>
            <a:r>
              <a:rPr lang="en-US" altLang="zh-CN"/>
              <a:t>             </a:t>
            </a:r>
            <a:r>
              <a:rPr lang="zh-CN" altLang="en-US"/>
              <a:t>扩散模型</a:t>
            </a:r>
            <a:r>
              <a:rPr lang="zh-CN" altLang="en-US"/>
              <a:t>训练</a:t>
            </a:r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608330" y="1203325"/>
            <a:ext cx="1048004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696210" y="6217285"/>
            <a:ext cx="74307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扩散模型训练结果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Loss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曲线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：80 epoch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后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Loss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稳定在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0.1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左右</a:t>
            </a:r>
            <a:endParaRPr lang="zh-CN" altLang="en-US" sz="2000" b="1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845" y="1329055"/>
            <a:ext cx="8334375" cy="47625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844675" y="196850"/>
            <a:ext cx="7642225" cy="705485"/>
          </a:xfrm>
        </p:spPr>
        <p:txBody>
          <a:bodyPr>
            <a:normAutofit/>
          </a:bodyPr>
          <a:p>
            <a:pPr algn="l"/>
            <a:r>
              <a:rPr lang="en-US" altLang="zh-CN"/>
              <a:t>           </a:t>
            </a:r>
            <a:r>
              <a:rPr lang="zh-CN" altLang="en-US"/>
              <a:t>扩散模型推理</a:t>
            </a:r>
            <a:r>
              <a:rPr lang="zh-CN" altLang="en-US"/>
              <a:t>采样</a:t>
            </a:r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608330" y="989965"/>
            <a:ext cx="1048004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555" y="1127760"/>
            <a:ext cx="8797925" cy="487108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000125" y="5998845"/>
            <a:ext cx="104800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物理引导扩散模型推理采样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32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个结构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，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选取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Top-K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个结构以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Score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函数为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FOM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进行拓扑优化</a:t>
            </a:r>
            <a:endParaRPr lang="zh-CN" altLang="en-US" sz="2000" b="1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169160" y="134620"/>
            <a:ext cx="6607810" cy="705485"/>
          </a:xfrm>
        </p:spPr>
        <p:txBody>
          <a:bodyPr>
            <a:normAutofit fontScale="90000"/>
          </a:bodyPr>
          <a:p>
            <a:pPr algn="l"/>
            <a:r>
              <a:rPr lang="en-US" altLang="zh-CN"/>
              <a:t>         </a:t>
            </a:r>
            <a:r>
              <a:rPr lang="zh-CN" altLang="en-US"/>
              <a:t>扩散模型推理采样</a:t>
            </a:r>
            <a:r>
              <a:rPr lang="zh-CN" altLang="en-US"/>
              <a:t>结果</a:t>
            </a:r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608330" y="990600"/>
            <a:ext cx="1048004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15" y="1256665"/>
            <a:ext cx="4664075" cy="46888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51355" y="6211570"/>
            <a:ext cx="28448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扩散模型输出结果</a:t>
            </a:r>
            <a:r>
              <a:rPr lang="en-US" altLang="zh-CN" sz="16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Top5</a:t>
            </a:r>
            <a:endParaRPr lang="en-US" altLang="zh-CN" sz="1600" b="1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pic>
        <p:nvPicPr>
          <p:cNvPr id="6" name="图片 5" descr="91b1084e37880b5ed3a7938e37c20c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220" y="1141095"/>
            <a:ext cx="2356485" cy="2089150"/>
          </a:xfrm>
          <a:prstGeom prst="rect">
            <a:avLst/>
          </a:prstGeom>
        </p:spPr>
      </p:pic>
      <p:pic>
        <p:nvPicPr>
          <p:cNvPr id="10" name="图片 9" descr="abae93a8b1786a722e393d4a1234c2e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8965" y="1231900"/>
            <a:ext cx="2497455" cy="199834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880860" y="3333115"/>
            <a:ext cx="29864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扩散模型最优结构光谱</a:t>
            </a:r>
            <a:r>
              <a:rPr lang="zh-CN" altLang="en-US" sz="16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响应</a:t>
            </a:r>
            <a:endParaRPr lang="zh-CN" altLang="en-US" sz="1600" b="1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47410" y="6226175"/>
            <a:ext cx="48533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拓扑优化后</a:t>
            </a:r>
            <a:r>
              <a:rPr lang="en-US" altLang="zh-CN" sz="16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Score</a:t>
            </a:r>
            <a:r>
              <a:rPr lang="zh-CN" altLang="en-US" sz="16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从</a:t>
            </a:r>
            <a:r>
              <a:rPr lang="en-US" altLang="zh-CN" sz="16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0.7904 </a:t>
            </a:r>
            <a:r>
              <a:rPr lang="en-US" altLang="en-US" sz="16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→</a:t>
            </a:r>
            <a:r>
              <a:rPr lang="en-US" altLang="zh-CN" sz="16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0.8475</a:t>
            </a:r>
            <a:r>
              <a:rPr lang="zh-CN" altLang="en-US" sz="16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，提升约</a:t>
            </a:r>
            <a:r>
              <a:rPr lang="en-US" altLang="zh-CN" sz="16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7%</a:t>
            </a:r>
            <a:endParaRPr lang="en-US" altLang="zh-CN" sz="1600" b="1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pic>
        <p:nvPicPr>
          <p:cNvPr id="15" name="图片 14" descr="4050d7f27374a958f615b1420934def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2590" y="3812540"/>
            <a:ext cx="5455285" cy="220789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458335" y="437515"/>
            <a:ext cx="3274695" cy="478155"/>
          </a:xfrm>
        </p:spPr>
        <p:txBody>
          <a:bodyPr>
            <a:normAutofit fontScale="90000"/>
          </a:bodyPr>
          <a:p>
            <a:r>
              <a:rPr lang="zh-CN" altLang="en-US"/>
              <a:t>数据增强</a:t>
            </a:r>
            <a:r>
              <a:rPr lang="zh-CN" altLang="en-US"/>
              <a:t>尝试</a:t>
            </a:r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608330" y="1122680"/>
            <a:ext cx="1048004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1226185"/>
            <a:ext cx="10982325" cy="41865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85925" y="5961380"/>
            <a:ext cx="94024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增强数据训练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初步结果：模型误差大概降低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14%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，推理性能分数大概提高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10%</a:t>
            </a:r>
            <a:endParaRPr lang="en-US" altLang="zh-CN" sz="2000" b="1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0980" y="5412740"/>
            <a:ext cx="11730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C00000"/>
                </a:solidFill>
              </a:rPr>
              <a:t>数据增强</a:t>
            </a:r>
            <a:r>
              <a:rPr lang="en-US" altLang="zh-CN" sz="2000" b="1">
                <a:solidFill>
                  <a:srgbClr val="C00000"/>
                </a:solidFill>
              </a:rPr>
              <a:t>：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生成大量随机结构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，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通过前向模型快速计算</a:t>
            </a:r>
            <a:r>
              <a:rPr lang="en-US" altLang="zh-CN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OTF，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选取打分最高的数据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重新进行仿真</a:t>
            </a:r>
            <a:r>
              <a:rPr lang="zh-CN" altLang="en-US" sz="2000" b="1"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和训练</a:t>
            </a:r>
            <a:endParaRPr lang="zh-CN" altLang="en-US" sz="2000" b="1"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02150" y="443865"/>
            <a:ext cx="3187065" cy="705485"/>
          </a:xfrm>
        </p:spPr>
        <p:txBody>
          <a:bodyPr/>
          <a:p>
            <a:r>
              <a:rPr lang="zh-CN" altLang="en-US"/>
              <a:t>问题</a:t>
            </a:r>
            <a:r>
              <a:rPr lang="en-US" altLang="zh-CN"/>
              <a:t>&amp;</a:t>
            </a:r>
            <a:r>
              <a:rPr lang="zh-CN" altLang="en-US"/>
              <a:t>讨论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2114550"/>
            <a:ext cx="11269345" cy="3475990"/>
          </a:xfrm>
        </p:spPr>
        <p:txBody>
          <a:bodyPr>
            <a:noAutofit/>
          </a:bodyPr>
          <a:p>
            <a:r>
              <a:rPr lang="zh-CN" altLang="en-US" sz="1700"/>
              <a:t>数据增强</a:t>
            </a:r>
            <a:r>
              <a:rPr lang="en-US" altLang="zh-CN" sz="1700"/>
              <a:t>：</a:t>
            </a:r>
            <a:r>
              <a:rPr lang="zh-CN" altLang="en-US" sz="1700"/>
              <a:t>数据是否尝试扩展到</a:t>
            </a:r>
            <a:r>
              <a:rPr lang="en-US" altLang="zh-CN" sz="1700"/>
              <a:t>1-2w+</a:t>
            </a:r>
            <a:r>
              <a:rPr lang="zh-CN" altLang="en-US" sz="1700"/>
              <a:t>数据聚类分析</a:t>
            </a:r>
            <a:r>
              <a:rPr lang="en-US" altLang="zh-CN" sz="1700"/>
              <a:t>+</a:t>
            </a:r>
            <a:r>
              <a:rPr lang="zh-CN" altLang="en-US" sz="1700"/>
              <a:t>改进数据生成算法</a:t>
            </a:r>
            <a:endParaRPr lang="en-US" altLang="zh-CN" sz="1700"/>
          </a:p>
          <a:p>
            <a:r>
              <a:rPr lang="zh-CN" altLang="en-US" sz="1700"/>
              <a:t>模型调整</a:t>
            </a:r>
            <a:r>
              <a:rPr lang="en-US" altLang="zh-CN" sz="1700"/>
              <a:t>：</a:t>
            </a:r>
            <a:r>
              <a:rPr lang="zh-CN" altLang="en-US" sz="1700"/>
              <a:t>改变条件嵌入</a:t>
            </a:r>
            <a:r>
              <a:rPr lang="en-US" altLang="zh-CN" sz="1700"/>
              <a:t>，</a:t>
            </a:r>
            <a:r>
              <a:rPr lang="zh-CN" altLang="en-US" sz="1700"/>
              <a:t>单波长的</a:t>
            </a:r>
            <a:r>
              <a:rPr lang="en-US" altLang="zh-CN" sz="1700"/>
              <a:t>T 【</a:t>
            </a:r>
            <a:r>
              <a:rPr lang="zh-CN" altLang="en-US" sz="1700"/>
              <a:t>角度</a:t>
            </a:r>
            <a:r>
              <a:rPr lang="en-US" altLang="zh-CN" sz="1700"/>
              <a:t>】</a:t>
            </a:r>
            <a:r>
              <a:rPr lang="zh-CN" altLang="en-US" sz="1700"/>
              <a:t>而不是</a:t>
            </a:r>
            <a:r>
              <a:rPr lang="en-US" altLang="zh-CN" sz="1700"/>
              <a:t>T【</a:t>
            </a:r>
            <a:r>
              <a:rPr lang="zh-CN" altLang="en-US" sz="1700"/>
              <a:t>波长</a:t>
            </a:r>
            <a:r>
              <a:rPr lang="en-US" altLang="zh-CN" sz="1700"/>
              <a:t>，</a:t>
            </a:r>
            <a:r>
              <a:rPr lang="zh-CN" altLang="en-US" sz="1700"/>
              <a:t>角度</a:t>
            </a:r>
            <a:r>
              <a:rPr lang="en-US" altLang="zh-CN" sz="1700"/>
              <a:t>】</a:t>
            </a:r>
            <a:r>
              <a:rPr lang="zh-CN" altLang="en-US" sz="1700"/>
              <a:t>矩阵作为条件训练扩散模型</a:t>
            </a:r>
            <a:endParaRPr lang="zh-CN" altLang="en-US" sz="1700"/>
          </a:p>
          <a:p>
            <a:r>
              <a:rPr lang="zh-CN" altLang="en-US" sz="1700"/>
              <a:t>对比实验</a:t>
            </a:r>
            <a:r>
              <a:rPr lang="en-US" altLang="zh-CN" sz="1700"/>
              <a:t>：CGANCVAE；</a:t>
            </a:r>
            <a:r>
              <a:rPr lang="zh-CN" altLang="en-US" sz="1700"/>
              <a:t>虚拟仿真边缘检测</a:t>
            </a:r>
            <a:r>
              <a:rPr lang="en-US" altLang="zh-CN" sz="1700"/>
              <a:t>；</a:t>
            </a:r>
            <a:r>
              <a:rPr lang="zh-CN" altLang="en-US" sz="1700"/>
              <a:t>拓扑优化物理引导和数据增强的消融实验</a:t>
            </a:r>
            <a:r>
              <a:rPr lang="en-US" altLang="zh-CN" sz="1700"/>
              <a:t>；</a:t>
            </a:r>
            <a:r>
              <a:rPr lang="zh-CN" altLang="en-US" sz="1700"/>
              <a:t>多波长结果</a:t>
            </a:r>
            <a:endParaRPr lang="en-US" altLang="zh-CN" sz="1700"/>
          </a:p>
          <a:p>
            <a:r>
              <a:rPr lang="zh-CN" altLang="en-US" sz="1700"/>
              <a:t>偏振复用</a:t>
            </a:r>
            <a:r>
              <a:rPr lang="en-US" altLang="zh-CN" sz="1700"/>
              <a:t>： </a:t>
            </a:r>
            <a:r>
              <a:rPr lang="zh-CN" altLang="en-US" sz="1700"/>
              <a:t>推理式输入不同的</a:t>
            </a:r>
            <a:r>
              <a:rPr lang="en-US" altLang="zh-CN" sz="1700"/>
              <a:t>tpp，tss，</a:t>
            </a:r>
            <a:r>
              <a:rPr lang="zh-CN" altLang="en-US" sz="1700"/>
              <a:t>探索偏振复用结构</a:t>
            </a:r>
            <a:r>
              <a:rPr lang="en-US" altLang="zh-CN" sz="1700"/>
              <a:t>（tpp</a:t>
            </a:r>
            <a:r>
              <a:rPr lang="zh-CN" altLang="en-US" sz="1700"/>
              <a:t>二阶</a:t>
            </a:r>
            <a:r>
              <a:rPr lang="en-US" altLang="zh-CN" sz="1700"/>
              <a:t>，tss</a:t>
            </a:r>
            <a:r>
              <a:rPr lang="zh-CN" altLang="en-US" sz="1700"/>
              <a:t>抑制或者全透过</a:t>
            </a:r>
            <a:r>
              <a:rPr lang="en-US" altLang="zh-CN" sz="1700"/>
              <a:t>；</a:t>
            </a:r>
            <a:r>
              <a:rPr lang="zh-CN" altLang="en-US" sz="1700"/>
              <a:t>设计为各自实现什么</a:t>
            </a:r>
            <a:r>
              <a:rPr lang="en-US" altLang="zh-CN" sz="1700"/>
              <a:t>；</a:t>
            </a:r>
            <a:r>
              <a:rPr lang="zh-CN" altLang="en-US" sz="1700"/>
              <a:t>修改对称性</a:t>
            </a:r>
            <a:r>
              <a:rPr lang="en-US" altLang="zh-CN" sz="1700"/>
              <a:t>；</a:t>
            </a:r>
            <a:r>
              <a:rPr lang="zh-CN" altLang="en-US" sz="1700"/>
              <a:t>数据集现在已经有类似结构</a:t>
            </a:r>
            <a:r>
              <a:rPr lang="en-US" altLang="zh-CN" sz="1700"/>
              <a:t>）</a:t>
            </a:r>
            <a:r>
              <a:rPr lang="zh-CN" altLang="en-US" sz="1700"/>
              <a:t>同样</a:t>
            </a:r>
            <a:r>
              <a:rPr lang="en-US" altLang="zh-CN" sz="1700"/>
              <a:t>。</a:t>
            </a:r>
            <a:endParaRPr lang="en-US" altLang="zh-CN" sz="1700"/>
          </a:p>
          <a:p>
            <a:r>
              <a:rPr lang="zh-CN" altLang="en-US" sz="1700"/>
              <a:t>时空微分超表面</a:t>
            </a:r>
            <a:r>
              <a:rPr lang="en-US" altLang="zh-CN" sz="1700"/>
              <a:t>：</a:t>
            </a:r>
            <a:r>
              <a:rPr lang="zh-CN" altLang="en-US" sz="1700"/>
              <a:t>目标光谱结构</a:t>
            </a:r>
            <a:endParaRPr lang="zh-CN" altLang="en-US" sz="1700"/>
          </a:p>
          <a:p>
            <a:r>
              <a:rPr lang="zh-CN" altLang="en-US" sz="1700"/>
              <a:t>开题</a:t>
            </a:r>
            <a:r>
              <a:rPr lang="zh-CN" altLang="en-US" sz="1700"/>
              <a:t>时间：</a:t>
            </a:r>
            <a:r>
              <a:rPr lang="en-US" altLang="zh-CN" sz="1700"/>
              <a:t> </a:t>
            </a:r>
            <a:r>
              <a:rPr lang="zh-CN" altLang="en-US" sz="1700"/>
              <a:t>四月底</a:t>
            </a:r>
            <a:r>
              <a:rPr lang="zh-CN" altLang="en-US" sz="1700"/>
              <a:t>左右</a:t>
            </a:r>
            <a:endParaRPr lang="zh-CN" altLang="en-US" sz="1700"/>
          </a:p>
          <a:p>
            <a:pPr marL="0" indent="0">
              <a:buNone/>
            </a:pPr>
            <a:r>
              <a:rPr lang="en-US" altLang="zh-CN" sz="1700"/>
              <a:t> </a:t>
            </a:r>
            <a:r>
              <a:rPr lang="zh-CN" altLang="en-US" sz="1700"/>
              <a:t>图像处理效果</a:t>
            </a:r>
            <a:r>
              <a:rPr lang="en-US" altLang="zh-CN" sz="1700"/>
              <a:t>；</a:t>
            </a:r>
            <a:r>
              <a:rPr lang="zh-CN" altLang="en-US" sz="1700"/>
              <a:t>打分标准</a:t>
            </a:r>
            <a:r>
              <a:rPr lang="en-US" altLang="zh-CN" sz="1700"/>
              <a:t>；</a:t>
            </a:r>
            <a:r>
              <a:rPr lang="zh-CN" altLang="en-US" sz="1700"/>
              <a:t>模型</a:t>
            </a:r>
            <a:r>
              <a:rPr lang="zh-CN" altLang="en-US" sz="1700"/>
              <a:t>对比</a:t>
            </a:r>
            <a:endParaRPr lang="zh-CN" altLang="en-US" sz="1700"/>
          </a:p>
          <a:p>
            <a:pPr marL="0" indent="0">
              <a:buNone/>
            </a:pPr>
            <a:endParaRPr lang="zh-CN" altLang="en-US" sz="1700"/>
          </a:p>
        </p:txBody>
      </p:sp>
      <p:cxnSp>
        <p:nvCxnSpPr>
          <p:cNvPr id="5" name="直接连接符 4"/>
          <p:cNvCxnSpPr/>
          <p:nvPr/>
        </p:nvCxnSpPr>
        <p:spPr>
          <a:xfrm>
            <a:off x="608330" y="1329055"/>
            <a:ext cx="1048004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1566</Words>
  <Application>WPS 演示</Application>
  <PresentationFormat>宽屏</PresentationFormat>
  <Paragraphs>140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宋体</vt:lpstr>
      <vt:lpstr>Wingdings</vt:lpstr>
      <vt:lpstr>Wingdings</vt:lpstr>
      <vt:lpstr>PingFang SC Semibold</vt:lpstr>
      <vt:lpstr>Arial</vt:lpstr>
      <vt:lpstr>ui-sans-serif</vt:lpstr>
      <vt:lpstr>Thonburi</vt:lpstr>
      <vt:lpstr>汉仪书宋二KW</vt:lpstr>
      <vt:lpstr>苹方-简</vt:lpstr>
      <vt:lpstr>微软雅黑</vt:lpstr>
      <vt:lpstr>汉仪旗黑</vt:lpstr>
      <vt:lpstr>宋体</vt:lpstr>
      <vt:lpstr>Arial Unicode MS</vt:lpstr>
      <vt:lpstr>ui-sans-serif</vt:lpstr>
      <vt:lpstr>WPS</vt:lpstr>
      <vt:lpstr>扩散模型辅助二阶微分超表面逆向设计</vt:lpstr>
      <vt:lpstr>                 总体设计流程框架</vt:lpstr>
      <vt:lpstr>             自由形态超表面结构生成</vt:lpstr>
      <vt:lpstr>             自由形态超表面结构生成</vt:lpstr>
      <vt:lpstr>             自由形态超表面结构生成</vt:lpstr>
      <vt:lpstr>     RCWA光谱仿真计算</vt:lpstr>
      <vt:lpstr>      RCWA光谱仿真计算数据集分析</vt:lpstr>
      <vt:lpstr>      RCWA光谱仿真计算数据集分析</vt:lpstr>
      <vt:lpstr>      RCWA光谱仿真计算数据集分析</vt:lpstr>
      <vt:lpstr>                 前向代理模型架构</vt:lpstr>
      <vt:lpstr>             前向代理模型训练误差曲线</vt:lpstr>
      <vt:lpstr>      扩散模型训练算法流程</vt:lpstr>
      <vt:lpstr>      扩散模型U-Net模型架构</vt:lpstr>
      <vt:lpstr>         扩散模型训练参数设置</vt:lpstr>
      <vt:lpstr>             扩散模型训练</vt:lpstr>
      <vt:lpstr>           扩散模型推理采样</vt:lpstr>
      <vt:lpstr>         扩散模型推理采样结果</vt:lpstr>
      <vt:lpstr>数据增强尝试</vt:lpstr>
      <vt:lpstr>问题&amp;讨论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李升欣(2025214342)</cp:lastModifiedBy>
  <cp:revision>194</cp:revision>
  <dcterms:created xsi:type="dcterms:W3CDTF">2026-03-23T01:57:06Z</dcterms:created>
  <dcterms:modified xsi:type="dcterms:W3CDTF">2026-03-23T01:57:06Z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E413ED74C9861CBA2654B669579FFE9E_41</vt:lpwstr>
  </property>
</Properties>
</file>